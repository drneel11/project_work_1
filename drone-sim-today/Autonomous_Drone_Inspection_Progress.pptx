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&amp; System" id="{1c192f22-8b7a-808d-fb39-9489ca8075a9}">
          <p14:sldIdLst>
            <p14:sldId id="258"/>
            <p14:sldId id="259"/>
            <p14:sldId id="260"/>
            <p14:sldId id="261"/>
          </p14:sldIdLst>
        </p14:section>
        <p14:section name="Literature Survey" id="{ea2360a7-dad8-17b7-873f-8d14ef9a52b8}">
          <p14:sldIdLst>
            <p14:sldId id="262"/>
            <p14:sldId id="263"/>
            <p14:sldId id="264"/>
            <p14:sldId id="265"/>
            <p14:sldId id="266"/>
          </p14:sldIdLst>
        </p14:section>
        <p14:section name="The Novelty" id="{36064fe3-977d-0727-ad92-b4a9dd29989b}">
          <p14:sldIdLst>
            <p14:sldId id="267"/>
            <p14:sldId id="268"/>
            <p14:sldId id="269"/>
            <p14:sldId id="270"/>
          </p14:sldIdLst>
        </p14:section>
        <p14:section name="Results" id="{df690965-971e-fcd8-11ba-b75b9d2d63ee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Limitations &amp; Future Work" id="{232d8373-d351-5789-1f7b-8003a7c5d936}">
          <p14:sldIdLst>
            <p14:sldId id="278"/>
            <p14:sldId id="279"/>
            <p14:sldId id="280"/>
          </p14:sldIdLst>
        </p14:section>
        <p14:section name="Default-1" id="{5109a40b-dca8-cd39-a0cc-48a03907c3f6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Drone Utility Inspection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UW-TIG: Uncertainty-Weighted Temporal Information Gain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6177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perception, persistent memory, and active reinspection -- a novel planner vs. a reimplemented base paper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-- Progress, Novelty, Literature Survey &amp; Results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0" y="502920"/>
            <a:ext cx="3840480" cy="3840480"/>
          </a:xfrm>
          <a:prstGeom prst="ellipse">
            <a:avLst/>
          </a:prstGeom>
          <a:ln w="15875">
            <a:solidFill>
              <a:srgbClr val="8080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960120"/>
            <a:ext cx="2926080" cy="2926080"/>
          </a:xfrm>
          <a:prstGeom prst="ellipse">
            <a:avLst/>
          </a:prstGeom>
          <a:ln w="15875">
            <a:solidFill>
              <a:srgbClr val="D9D9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0" y="1417320"/>
            <a:ext cx="2011680" cy="2011680"/>
          </a:xfrm>
          <a:prstGeom prst="ellipse">
            <a:avLst/>
          </a:prstGeom>
          <a:ln w="15875">
            <a:solidFill>
              <a:srgbClr val="8080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0" y="1874520"/>
            <a:ext cx="1097280" cy="1097280"/>
          </a:xfrm>
          <a:prstGeom prst="ellipse">
            <a:avLst/>
          </a:prstGeom>
          <a:ln w="15875">
            <a:solidFill>
              <a:srgbClr val="D9D9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24231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3990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System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013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gap, closed-loop architecture, what's been built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7157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planning papers, 3 simulation-engine papers, positioned precisely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27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Novelty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6301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literature-grounded additions to the base paper, each independently ablated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1422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544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5-seed statistical sweep, perception benchmark, honest calibration check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056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458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-- what's unresolved and what's next</a:t>
            </a:r>
            <a:endParaRPr lang="en-US" sz="1250" dirty="0"/>
          </a:p>
        </p:txBody>
      </p:sp>
      <p:sp>
        <p:nvSpPr>
          <p:cNvPr id="23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3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Gap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next-best-view (NBV) planners -- including the closest base paper -- pick viewpoints using pure geometric information gain</a:t>
            </a:r>
            <a:endParaRPr lang="en-US" sz="155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no concept of a “defect”: geometry-only entropy, not semantic awareness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persist across missions: every flight starts from a blank belief, so a growing or unresolved defect is forgotten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uncertainty-aware in a validated way: no real trained detector confidence feeding the plan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proposal's gap, stated precisely: a planner that combines real-detector uncertainty, persistent cross-mission memory, and cost-aware active reinspection -- validated against a real trained model, not assumed ground truth</a:t>
            </a:r>
            <a:endParaRPr lang="en-US" sz="155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Closed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04672" y="1307592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04672" y="1307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05840" y="1709928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463040" y="125272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chooses a viewpoint from the current belief state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04672" y="2093976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093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2496312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1463040" y="20391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flies there (kinematic sim for sweeps, real PID physics for the flagship demo) and captures a frame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2880360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880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3282696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463040" y="282549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detector reports defects with confidence + epistemic uncertainty (TTA-ensemble variance)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" y="3666744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666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" y="4069080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463040" y="36118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ray-cast into a real 3D world position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04672" y="4453128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" y="4855464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463040" y="439826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against persistent memory -- matched to an existing defect or registered as new, growth computed if matched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04672" y="5239512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51846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Uncertainty/growth signal is written back into the belief -- feeding the planner's very next choice, and seeded again at the next mission's start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1356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closes on step 6: persistent memory feeds the very next decision -- not a pipeline that runs once.</a:t>
            </a:r>
            <a:endParaRPr lang="en-US" sz="1250" dirty="0"/>
          </a:p>
        </p:txBody>
      </p:sp>
      <p:sp>
        <p:nvSpPr>
          <p:cNvPr id="2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Progress: What's Been Implemented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trained on MBDD2025 (14,471 real UAV photos, 5 defect classes). CPU and GPU checkpoints, both genuinely trained.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644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1104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1104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2D detection ray-cast from the known camera pose onto the known wall plane -&gt; real-world (x, y, z).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3452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9912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Memory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19912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Postgres+pgvector (detection log, identity matching) + Neo4j (defect graph) -- cross-mission identity and growth.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planners on one viewpoint graph: Random, the Isler-NBV base paper, 4 re-implemented literature planners (Rückin, Bircher, GATSBI, Alamdari), UW-TIG and 5 ablations.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644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1104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1104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Open-air utility yard, 9 inspectable walls/panels, 1.3 m + 2.2 m viewpoints, real PID-controlled physics flight (gym-pybullet-drones).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3452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9912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9912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5-seed sweep x 4 scenarios x 12 planners x 3 missions. Every design choice fixed on separate dev seeds first.</a:t>
            </a:r>
            <a:endParaRPr lang="en-US" sz="11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7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Paper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Isler, Sabzevari, Delmerico &amp; Scaramuzza -- “An Information Gain Formulation for Active Volumetric 3D Reconstruction” (ICRA 2016)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Entropy-based, cost-normalized information gain -- the closest prior method to this project's planner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Re-implemented here (not borrowed numbers): the direct baseline UW-TIG is compared against and extends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geometry-only: no defect semantics -- the literature gap this proposal identifies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precision/recall concept at all -- it is a volumetric-reconstruction quality paper, not a detection paper</a:t>
            </a:r>
            <a:endParaRPr lang="en-US" sz="15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UW-TIG Sits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  <a:gridCol w="1463040"/>
                <a:gridCol w="1280160"/>
                <a:gridCol w="109728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Uncertainty-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Cross-mission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/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(baseline)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(receding-horizon NBV)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 (2023 / 2024)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 only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Pred-NBV / MAP-NBV (Dhami et al.)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Liu et al. 2022 (uncertainty-controlled CPP)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bound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Taioli et al. 2023 (POMDP / MCTS search)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(1 session)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POMDP-optimal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Alamdari, Fata &amp; Smith 2014 (persistent monitoring)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approx.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(ICRA'22 / IROS'22 / T-RO'23)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Partial*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Core selection rule re-implemented and measured head-to-head in this testbed (Results).   * Inherited (1 - 1/e) greedy guarantee on the coverage sub-objective only. No cited work combines all six columns.</a:t>
            </a:r>
            <a:endParaRPr lang="en-US" sz="10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Closest Relatives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66344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GATSBI (Dhami et al., 2023 / 2024)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on cost-awareness: a real defect detector combined with GTSP-routed, cost-aware planning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no persistent cross-mission memory, and no detection-uncertainty term feeding the planner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“detection rate vs. frontier-exploration baseline” (11.5x better) -- a different unit than precision/recall, not directly comparable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66344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Rückin et al. (ICRA'22 / IROS'22 / T-RO'23)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on uncertainty: plans with real Bayesian epistemic uncertainty (BALD, MC-Dropout) normalized by cost -- structurally the same shape as UW-TIG's utility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single-session active learning to improve a model, not persistent defect monitoring with a fixed, deployed model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a metric this project had never run on itself: Expected Calibration Error (see Results)</a:t>
            </a:r>
            <a:endParaRPr lang="en-US" sz="1250" dirty="0"/>
          </a:p>
        </p:txBody>
      </p:sp>
      <p:sp>
        <p:nvSpPr>
          <p:cNvPr id="9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Realism: Unity, Unreal &amp; Beyond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AirSim (Shah, Dey, Lovett &amp; Kapoor, FSR 2017) -- built on Unreal Engine, high-fidelity rendering + physics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Flightmare (Song, Naji, Kaufmann, Loquercio &amp; Scaramuzza, CoRL 2020) -- Unity rendering + a separate fast physics engine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GRaD-Nav (Chen et al., 2025) -- the field's current frontier: 3D-Gaussian-Splatting, past rasterized game engines entirely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solve one problem: the sim-to-real visual-fidelity gap when a model trains on rendered, synthetic imagery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10881360" cy="21031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gap doesn't apply here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526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detector trains and is evaluated exclusively on MBDD2025's real UAV photographs applied as wall textures -- never on synthetic defect renders. The onboard camera stays tightly framed on the wall it inspects, never seeing the yard dressing. A game-engine or 3DGS renderer would make the simulator prettier to watch; it would not change a single pixel the detector learns from. PyBullet was kept -- terminal-scriptable, and gym-pybullet-drones' own PID flight stack already gives the flagship demo real (not kinematic) physics.</a:t>
            </a:r>
            <a:endParaRPr lang="en-US" sz="12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Novelty: UW-TIG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12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Literature-Grounded Additions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6245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Coverage-guarantee phase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every wall once before switching to full utility -- fixes a recall ceiling that silently affected Isler-NBV too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uwtig_no_coverage_first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368296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134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detector uncertainty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66090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TTA-ensemble variance from an actually-trained YOLO model, not an assumed ground-truth oracle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3682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uwtig_no_uncertainty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64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cross-mission memory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6118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 track each defect's identity and growth across separate missions, not just within one flight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3192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uwtig_no_temporal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270248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70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153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Staleness term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562856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Revisits a spot purely because it hasn't been looked at in a while (Alamdari, Fata &amp; Smith 2014)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42702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uwtig_no_staleness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2-step receding horizon lookahead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5138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one step ahead instead of pure greedy (Bircher et al. 2016; GATSBI's replanning structure)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522122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uwtig_no_lookahead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 is independently ablated in PLANNER_REGISTRY -- measured, not just claimed.</a:t>
            </a:r>
            <a:endParaRPr lang="en-US" sz="125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Dive: The Coverage-Guarantee Phase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Isler-NBV and every UW-TIG variant stalled at a fixed fraction of the walls, identically, every seed -- the cost-normalized greedy formulation itself never finds the far building worth its travel cost. No weight retune can fix that; an explicit phase does.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0.68 → 0.95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without → with the phase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5186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186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 → 0.97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0.44 → 1.00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(fraction of walls)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9254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9254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→ 125 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93826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distance (the cost)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any wall has zero visits this mission, select only among unvisited walls using Isler-NBV's own gain-minus-cost rule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wall has been seen, hand over to the full UW-TIG utility for reinspection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decisive component in the final results -- the cost is more flying, stated plainly</a:t>
            </a:r>
            <a:endParaRPr lang="en-US" sz="1350" dirty="0"/>
          </a:p>
        </p:txBody>
      </p:sp>
      <p:sp>
        <p:nvSpPr>
          <p:cNvPr id="1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Ablations: What Each Addition Measurably Does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188720"/>
                <a:gridCol w="1097280"/>
                <a:gridCol w="14630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 (full)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uwtig_no_uncertainty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uwtig_no_temporal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uwtig_no_staleness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uwtig_no_coverage_first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uwtig_no_lookahead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coverage phase is decisive: F1 0.953 with it, 0.680 without. Stated plainly: removing the staleness term or the lookahead scores slightly HIGHER and flies less -- once a single survey look is ~99% reliable, they add flying without adding accuracy. Removing the uncertainty term or the temporal term changes nothing -- in this configuration they alter no decision.</a:t>
            </a:r>
            <a:endParaRPr lang="en-US" sz="11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16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Perception: Real Trained Detector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detectors trained on MBDD2025 (14,471 real UAV building-defect photos), scored on the held-out test set of 1,448 images.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checkpoint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(YOLOv8n, 320px, 30ep)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checkpoint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(YOLOv8s, 640px, 100ep)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mAP50-95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(mean)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(mean)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00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runs trained on a rented NVIDIA L4; bulge-class oversampling (2,018 vs. abscission's 22,702 instances) addresses class imbalance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held-out 1,448-image test set for every checkpoint -- never used for training or model selection</a:t>
            </a:r>
            <a:endParaRPr lang="en-US" sz="125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Numbers Got Above 0.90: Five Real Fixes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diagnosed on separate dev seeds (100-102), then frozen and run once on the reported test seeds (0-4). Each applies identically to every planner.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465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units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746504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divided unique true positives by every raw false-positive box -- penalizing reinspection. Now scored per inspection report.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69464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532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MBDD2025 photos hold a second labeled defect; detecting it was counted as a false positive. Now ignored, COCO-style.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9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 distortion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3192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were stretched ~2.2x and pixelated on the walls. Now cropped to true wall aspect at 1536 px, square-pixel frames.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42232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Viewpoint distance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4105656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Single-look recall: 0.47 at 0.8 m vs 0.99 at 2.2 m. The close-up tier was replaced by a 2.2 m survey tier.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Wrong-surface hits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892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51-75% of false positives were on an adjacent surface, vs 1 of 1,369 true positives. Off-wall hits now rejected.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rule (chosen on dev by planner-averaged F1): a defect is reported once seen in 3 looks across missions, or once at confidence ≥ 0.45. UW-TIG: 0.76 / 0.63 / 0.65 before → 0.95 / 0.97 / 0.95 now.</a:t>
            </a:r>
            <a:endParaRPr lang="en-US" sz="1200" dirty="0"/>
          </a:p>
        </p:txBody>
      </p:sp>
      <p:sp>
        <p:nvSpPr>
          <p:cNvPr id="2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 vs. Published Planners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paper's core selection rule, re-implemented in this testbed -- same detector, scenes, seeds and scoring. Mean over static / uncertain / multi-defect x 5 test seeds x 3 missions.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05840"/>
                <a:gridCol w="914400"/>
                <a:gridCol w="1280160"/>
                <a:gridCol w="118872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single-look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(RH-NBV)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 (IPP)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 (latency)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376672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and Rückin et al. 2023 (IPP) tie on F1 (0.953 vs 0.950, inside seed noise) -- but UW-TIG flies 39% less (125.1 m vs 204.3 m).</a:t>
            </a:r>
            <a:endParaRPr lang="en-US" sz="125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to each paper's selection rule, not its full system (no RRT sampling, 3D mapping or online model retraining).</a:t>
            </a:r>
            <a:endParaRPr lang="en-US" sz="125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Finding: Is the Uncertainty Signal Trustworthy?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Rückin et al.'s evaluation methodology prompted a check this project had never run on itself, despite its name: Expected Calibration Error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is high (0.29–0.33) for every planner -- well above a calibrated model's near-zero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uncertainty gap (FP uncertainty minus TP uncertainty) is NEGATIVE for every planner (-0.12 to -0.08)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opposite of what would validate “high uncertainty means likely wrong” -- and it still holds after the &gt;0.90 fixes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3749040"/>
            <a:ext cx="10881360" cy="23317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plainly, not hidden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10332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doesn't invalidate the planner's measured precision/recall results -- uncertainty is used only as a relative ranking signal within one mission, never thresholded as an absolute probability. But it does mean this project cannot currently back the claim that high TTA-uncertainty means a detection is probably wrong. A real fix: swap in an uncertainty estimate validated for calibration (e.g. MC-Dropout, or post-hoc temperature scaling) -- logged as future work, not papered over.</a:t>
            </a:r>
            <a:endParaRPr lang="en-US" sz="125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Comparison: This Detector vs. the Literature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3017520"/>
                <a:gridCol w="914400"/>
                <a:gridCol w="914400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 (YOLOv8s, 640px)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5-class UAV defect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MBDD2025 -- public, 14,471 photos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Li, Shi &amp; Sun 2026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Utility-tunnel defect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Private, 5,000 images -- never released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Inam et al. 2023 (best variant)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crack only (1 class)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field data + SDNET2018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39776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numbers are lower -- stated plainly, not explained away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comparison cuts both ways: Inam et al.'s number is crack-only (strictly easier, no cross-class confusion); Li et al.'s dataset is private and unverifiable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MBDD2025 is the only fully public, independently reproducible dataset of the three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controlled claim this project rests on is the same-testbed head-to-head comparison, not a claim of leading the wider literature on raw detector numbers</a:t>
            </a:r>
            <a:endParaRPr lang="en-US" sz="13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Proof: No Physical Drone Required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demo_uwtig_flight.py --planner &lt;name&gt; flies any planner under real PID-controlled physics (gym-pybullet-drones) -- not kinematic teleport, not a fixed patrol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scenario, same seed, same budget, three planners: UW-TIG, Isler-NBV, Random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make_comparison_video.py splices frame-exact, same-timestep videos side by side</a:t>
            </a:r>
            <a:endParaRPr lang="en-US" sz="1400" dirty="0"/>
          </a:p>
        </p:txBody>
      </p:sp>
      <p:pic>
        <p:nvPicPr>
          <p:cNvPr id="4" name="Image 0" descr="D:\projecy_work1\drone-sim-today\report_assets\comparison_frame_b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926080"/>
            <a:ext cx="9144000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08760" y="2926080"/>
            <a:ext cx="9144000" cy="228600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5285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right: UW-TIG, Isler-NBV, Random -- same scenario, seed, and timestep. Each already at a different wall. By late mission, UW-TIG works a feature-dense real defect target while Isler-NBV is caught mid-detection on a wall the others aren't even looking at.</a:t>
            </a:r>
            <a:endParaRPr lang="en-US" sz="115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23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Plainly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clear 0.90, the floor does not: the faint “uncertain” scenario's precision is 0.893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“growing” scenario's recall is ~0% -- a synthetic texture the real-photo detector doesn't recognize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the gain is measurement, not planning: the scoring and geometry fixes lifted every planner</a:t>
            </a:r>
            <a:endParaRPr lang="en-US" sz="1400" dirty="0"/>
          </a:p>
          <a:p>
            <a:pPr lvl="1" marL="457200" indent="-2286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scoring formula on these same runs gives UW-TIG precision 0.668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planners are re-implemented at the selection-rule level, not as full systems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UW-TIG's edge over the best published rule is flight cost, not detection quality</a:t>
            </a:r>
            <a:endParaRPr lang="en-US" sz="1400" dirty="0"/>
          </a:p>
          <a:p>
            <a:pPr lvl="1" marL="457200" indent="-2286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Rückin et al. IPP: F1 0.950 vs 0.953, and higher precision (0.959 vs 0.949)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is TTA-ensemble variance (not MC-Dropout), poorly calibrated, and its gap is negative</a:t>
            </a:r>
            <a:endParaRPr lang="en-US" sz="1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Further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staleness and lookahead stay on by default -- their ablations now match or beat the full planner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“uncertain” scenario's precision above 0.90 -- the one slice still below the target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growing-scenario domain gap -- mix in synthetic defect imagery, or acquire a longitudinal real dataset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the literature baselines at full-system fidelity (RRT sampling, 3D mapping, online retraining)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TTA-ensemble variance with a calibration-validated uncertainty estimate -- MC-Dropout, or temperature scaling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SDNET2018 crack-class augmentation (converter built, download pending)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toward pipeline segments and truss rigs as first-class inspectable geometry</a:t>
            </a:r>
            <a:endParaRPr lang="en-US" sz="1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Closed Loop, Validated Honestly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4348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UW-TIG: precision 0.949, recall 0.967, F1 0.953 on held-out test seeds --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head-to-head against re-implementations of five published planners in one testbed.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reported plainly, including where the numbers don't flatter the project.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26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2026-10-05T21:52:29Z</dcterms:created>
  <dcterms:modified xsi:type="dcterms:W3CDTF">2026-10-05T21:52:29Z</dcterms:modified>
</cp:coreProperties>
</file>