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Shape 0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</p:sp>
      <p:sp>
        <p:nvSpPr>
          <p:cNvPr id="4" name="Shape 1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</p:sp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  ·  Autonomous Drone Utility Inspection</a:t>
            </a:r>
            <a:endParaRPr lang="en-US" sz="900" dirty="0"/>
          </a:p>
        </p:txBody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DRONE UTILITY INSPECTION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UW-TIG: Uncertainty-Weighted Temporal Information Gain for Closed-Loop Defect Inspection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468880"/>
            <a:ext cx="128016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651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PSG College of Technology  ·  Department of Computer Science and Engineering, Coimbatore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Ms. L. Karthika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005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4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N. Gopika Rani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823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Co-Guide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36758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Akhil Ramalingam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0" y="36758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23Z207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52160" y="402336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52160" y="404164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Anbuchandiran 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40416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23Z209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438912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52160" y="44074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Neelesh Padmanabh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44074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23Z241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52160" y="475488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52160" y="47731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Saumiyaa Sri V 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77316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23Z261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52160" y="512064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852160" y="513892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Sowndarya Elangi 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51389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23Z269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852160" y="548640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852160" y="55046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Therdhana J P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55046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23Z273</a:t>
            </a:r>
            <a:endParaRPr lang="en-US" sz="1400" dirty="0"/>
          </a:p>
        </p:txBody>
      </p:sp>
      <p:sp>
        <p:nvSpPr>
          <p:cNvPr id="29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0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infrastructure -- buildings, pipelines, towers -- needs repeated inspection for cracks, corrosion and leakage. Today's drone inspection is largely open-loop: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449824" cy="12344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6771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routes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3347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drone follows a pre-planned path; what it detects never changes where it flies next.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2103120"/>
            <a:ext cx="5449824" cy="12344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19088" y="226771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memory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19088" y="263347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flight starts from scratch -- a defect seen last month is not tracked or compared.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20440"/>
            <a:ext cx="5449824" cy="12344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685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Uncertainty ignored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050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low-confidence detection is treated like a confident one; nothing triggers a second look.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3520440"/>
            <a:ext cx="5449824" cy="12344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19088" y="3685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Single-session planners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4050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planners (Rückin 2023, GATSBI 2023/24, Moon 2026) work within one session; none tracks a defect across missions.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41324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closed-loop drone that detects defects with a trained model, measures its own uncertainty, remembers defects across missions, and decides where to fly next -- and show it beats published planners on the same testbed.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builds a simulated autonomous drone (PyBullet, gym-pybullet-drones) that inspects an open-air utility yard for surface defects. A YOLOv8 detector trained on 14,471 real UAV photographs (MBDD2025) finds cracks, leakage, abscission, corrosion and bulging, and a test-time-augmentation ensemble estimates each detection's uncertainty. Detections are ray-cast to 3-D positions and stored in a persistent memory (PostgreSQL + pgvector, Neo4j) that tracks each defect across missions. The proposed planner, UW-TIG, builds on recent uncertainty-driven informative path planning (Rückin et al. 2023, Moon et al. 2026) and adds a coverage guarantee, detection uncertainty, defect growth, revisit staleness and a two-step lookahead. It is compared on held-out test seeds against random search and five re-implemented published planners.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260604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096512"/>
            <a:ext cx="2606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0.949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37176"/>
            <a:ext cx="233172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6879" y="3931920"/>
            <a:ext cx="260604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76879" y="4096512"/>
            <a:ext cx="2606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0.967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514039" y="4837176"/>
            <a:ext cx="233172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05118" y="3931920"/>
            <a:ext cx="260604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05118" y="4096512"/>
            <a:ext cx="2606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42278" y="4837176"/>
            <a:ext cx="233172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33358" y="3931920"/>
            <a:ext cx="260604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033358" y="4096512"/>
            <a:ext cx="2606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170518" y="4837176"/>
            <a:ext cx="233172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flight than the best published planner at equal F1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results, mean over 3 scenarios x 5 test seeds x 3 missions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 (2023 - 2026)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07008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606040"/>
                <a:gridCol w="2414016"/>
                <a:gridCol w="2414016"/>
              </a:tblGrid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Paper, authors &amp;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Advantages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Dhami et al. (GATSBI), ICUAS 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 bridge inspection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GTSP routing over target surfaces; detector added 2024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Cost-aware and inspection-specific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session; no uncertainty, no memory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Rückin et al., IEEE T-RO 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Informative path 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uncertainty (MC-Dropout) drives the path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learned uncertainty in 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session; goal is retraining the 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Vashisth et al., IEEE RA-L 2024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IPP with deep RL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Reinforcement learning on dynamic graphs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Learns to balance exploring and targets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training; no defect 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Petit &amp; Lussier Desbiens (MOAR), ICRA 2024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Risk-aware inspection 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Multi-objective, risk-aware path 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Adapts to weather, battery and safety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perception or defect awareness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Svystun et al., 2024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Wind-turbine UAV inspection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Segmentation-guided trajectory adaptation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 shorter inspection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structure type; no revisits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 et al., 2025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surface inspection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coverage + local reactive replanning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 obstacles missing from the map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only; no defect detection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Moon et al. (IA-TIGRIS), IEEE T-RO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 informative 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Sampling-based planner that reuses past plans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online replanning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information gain; no defects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 et al., RSS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Motion-uncertainty-aware NBV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selection under motion and measurement uncertainty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Plans over uncertain futures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Reconstruction task, not defect inspection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Inferences &amp; Proposed Novelty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212080" cy="44805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447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Inferences from the survey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5740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planners (2023-2026) add risk, learning and adaptivity, but plan for coverage or information gain -- none plan around detected defects.</a:t>
            </a:r>
            <a:endParaRPr lang="en-US" sz="13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Uncertainty-driven planning (Rückin 2023, Li 2026) uses model or motion uncertainty within a single session.</a:t>
            </a:r>
            <a:endParaRPr lang="en-US" sz="13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reviewed work re-inspects the same defect across missions; 2025 reviews (Nikkhah et al.; Vivaldini, Pěnička &amp; Saska) still list perception-driven flight planning as open.</a:t>
            </a:r>
            <a:endParaRPr lang="en-US" sz="13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YOLO detectors report 0.91-0.98 precision, mostly on single-class or private data.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71032" y="1280160"/>
            <a:ext cx="5669280" cy="44805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99632" y="144475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UW-TIG: what is new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9632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2057400"/>
            <a:ext cx="52578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guarantee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wall is seen once before anything else; fixes the recall ceiling of cost-normalised greedy planners.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uncertainty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unsure detections earn a second look (TTA ensemble of a trained YOLO model).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Cross-mission memory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Neo4j track each defect's identity and growth over missions.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Staleness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 not seen for a while gain priority (after Alamdari et al.).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lookahead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one move ahead instead of pure greedy (after Bircher et al.).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Novelty in Detail: How UW-TIG Decides Where to Fly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1091672" cy="530352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188720"/>
            <a:ext cx="10634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of a viewpoint v:  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1.0·InfoGain(v) + 1.5·Uncertainty(v) + 2.0·Growth(v) + 1.0·Staleness(v) − 0.4·Cost(v)</a:t>
            </a:r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(54 views re-scored after every move)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703320"/>
                <a:gridCol w="2606040"/>
                <a:gridCol w="281635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works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is needed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effect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Coverage guarantee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While any wall is still unseen this mission, choose only among unseen walls' views, scored by InfoGain − 0.4·Cost; full score takes over once all 9 walls are seen.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plain information-gain score never pays to fly to the far building -- it stopped at 4 of 9 walls on every seed.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0.556 → 0.967; F1 0.680 → 0.953. The decisive addition.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Detector uncertainty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frame is run 5 times (original + 4 brightness / noise / blur variants); the spread of confidence is the uncertainty, faded as a spot is viewed more.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unsure detection should earn a second look instead of being trusted or dropped.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but small next to the other terms: shifts the route by under 1 m, no metric changes.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Cross-mission memory &amp; growth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detection is ray-cast to 3-D and matched to a known defect (Postgres + pgvector); Neo4j keeps its history. Growth = size now − size last time.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drone that forgets is re-learning every flight; worsening defects need tracking.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Looks count across missions: a defect is reported after 3 looks or one at confidence ≥ 0.45. Growth is ~0 here (test scenarios don't grow).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Staleness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rises with time since a spot was last seen: 1 − e^(−0.15 · steps since last view). Adapted from Alamdari et 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the drone from fixating on one wall while others go unchecked.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Removing it: F1 0.958, 36% less flight -- currently adds flying, not accuracy.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Two-step lookahead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view is scored with the best follow-up view after it (weight 0.5); only the first step is flown, then it replans. Adapted from Bircher et 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greedy choice can walk into dead ends.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Removing it: F1 0.958, 32% less flight -- an open tuning question.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016752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all new weights to zero and switching off the coverage phase and lookahead gives back a plain cost-normalised information-gain planner exactly -- so every gain is measured against it, not against a different algorithm.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 utility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423160" y="1988820"/>
            <a:ext cx="42976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48640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54 candidate viewpoints and picks the next one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852928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52928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Flight + Camera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52928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PyBullet drone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27448" y="1988820"/>
            <a:ext cx="42976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852928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Flies there (PID physics in demo, kinematic in sweeps) and captures a frame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157216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57216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57216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+ TTA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31736" y="1988820"/>
            <a:ext cx="42976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5157216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defects; 5-view TTA gives confidence and uncertainty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461504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61504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61504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Ray-cast to 3-D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336024" y="1988820"/>
            <a:ext cx="42976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461504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each box onto the wall plane to get a 3-D position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765792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65792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765792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Neo4j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765792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defects across missions and records growth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0703052" y="2514600"/>
            <a:ext cx="0" cy="41148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85900" y="2926080"/>
            <a:ext cx="921715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485900" y="2514600"/>
            <a:ext cx="0" cy="41148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/>
          </a:ln>
        </p:spPr>
      </p:sp>
      <p:sp>
        <p:nvSpPr>
          <p:cNvPr id="31" name="Text 29"/>
          <p:cNvSpPr txBox="1"/>
          <p:nvPr/>
        </p:nvSpPr>
        <p:spPr>
          <a:xfrm>
            <a:off x="1668780" y="2624328"/>
            <a:ext cx="8851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feedback: updated coverage, uncertainty and growth drive the next choice -- and the next mission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4572000"/>
            <a:ext cx="11091672" cy="12801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09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environment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047488"/>
            <a:ext cx="10634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Open-air utility yard: two equipment buildings plus inspection panels on a pipe rack and a lattice tower -- 9 inspectable surfaces, 54 candidate viewpoints at 1.3 m and 2.2 m standoff. Four scenarios (static, uncertain, multi-defect, growing) with real MBDD2025 photos applied as wall textures.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Requirements, Dataset &amp; Preprocessing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547872" cy="44348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4475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requirements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57400"/>
            <a:ext cx="313639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PyBullet + gym-pybullet-drones (simulation, PID flight)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YOLOv8 / YOLO11, OpenCV, NumPy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 (detection log, identity matching)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(defect graph across missions)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(runs both databases)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L4 GPU, rented (detector training only)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0540" y="1280160"/>
            <a:ext cx="3547872" cy="44348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49140" y="144475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491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49140" y="2057400"/>
            <a:ext cx="313639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MBDD2025: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14,471 real UAV photos of building surfaces (Zha et al., Scientific Data 2025).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classes: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crack, leakage, abscission, corrosion, bulge.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/ 20 / 10 train / val / test; 1,448 held-out test images.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bulge has 2,018 instances vs. 22,702 for abscission.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SDNET2018: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 augmentation planned; download pending.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547872" cy="44348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4475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210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057400"/>
            <a:ext cx="313639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Aspect-correct crop: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cropped to each wall's true shape at 1536 px (was stretched ~2.2x).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pixels: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320x240 camera frames resampled before detection.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Oversampling: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bulge images repeated ~4x in training.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TTA ensemble: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photometric variants per frame give an uncertainty score.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On-wall check: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outside the wall rejected -- removed 51-75% of false positives.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Model &amp; Evaluation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1091672" cy="50292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207008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YOLOv8s  ·  640 px  ·  100 epochs on an NVIDIA L4  ·  bulge oversampled ~4x  ·  uncertainty = spread of confidence across TTA views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20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detector -- held-out test set (1,448 images)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48463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Leakage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Abscission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Corrosion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892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 0.884  ·  mAP50-95 0.506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1920240"/>
            <a:ext cx="5925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detectors (2023 - 2026)</a:t>
            </a:r>
            <a:endParaRPr lang="en-US" sz="12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2240280"/>
          <a:ext cx="59253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011680"/>
                <a:gridCol w="566928"/>
                <a:gridCol w="566928"/>
                <a:gridCol w="630936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/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(YOLOv8s)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classes, public MBDD2025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Huang et al. 2025 (YOLOv11)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Concrete crack, 1 class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Li, Shi &amp; Sun 2026 (YOLOv11)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 tunnel, private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Inam et al. 2023 (YOLOv5m)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 crack, 1 class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715000" y="4572000"/>
            <a:ext cx="59253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reviewed: TinyDef-DETR (Shen et al. 2025, transformer, power-line defects) and a saliency-guided YOLOX bridge detector (Hebbache et al. 2025) -- neither reports a comparable number. Higher scores above come from single-class or private datasets; ours is 5-class on public data.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check: expected calibration error 0.29-0.33, and uncertainty is slightly lower on wrong detections than right ones -- so uncertainty is used only to rank views within a mission, never as a probability.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UW-TIG Planner &amp; Closed-Loop Results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91672" cy="566928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234440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Utility(v) =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1.0·InfoGain + 1.5·Uncertainty + 2.0·Growth + 1.0·Staleness − 0.4·Cost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(coverage phase first; 2-step lookahead)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694944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896112"/>
                <a:gridCol w="868680"/>
                <a:gridCol w="777240"/>
                <a:gridCol w="932688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 (m)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Isler-NBV (classical, 2016)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Bircher et al. 2016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Dhami et al. (GATSBI)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Alamdari et al. 2014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Rückin et al.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UW-TIG (ours)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26680" y="1965960"/>
            <a:ext cx="3913632" cy="3072384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55280" y="213055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results show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955280" y="25328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743200"/>
            <a:ext cx="35021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Ties the best published planner on F1 (0.953 vs 0.950) while flying 39% less.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phase is decisive: F1 0.680 without it.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uncertainty or growth changes no metric: the coverage phase ignores both, and these scenarios have no real growth.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Rückin et al. has slightly higher precision (0.959).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120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over static, uncertain and multi-defect scenarios x 5 test seeds x 3 missions; each published planner's selection rule re-implemented on the same testbed.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Work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40680" cy="44805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447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57400"/>
            <a:ext cx="49834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closed loop: detect, assess uncertainty, remember, replan, reinspect.</a:t>
            </a:r>
            <a:endParaRPr lang="en-US" sz="1500" dirty="0"/>
          </a:p>
          <a:p>
            <a:pPr marL="203200" indent="-2032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 reaches precision 0.949, recall 0.967, F1 0.953 on held-out test seeds.</a:t>
            </a:r>
            <a:endParaRPr lang="en-US" sz="1500" dirty="0"/>
          </a:p>
          <a:p>
            <a:pPr marL="203200" indent="-2032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strongest of five published planners on detection while flying far less.</a:t>
            </a:r>
            <a:endParaRPr lang="en-US" sz="1500" dirty="0"/>
          </a:p>
          <a:p>
            <a:pPr marL="203200" indent="-2032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design choice was fixed on separate development seeds before testing.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99632" y="1280160"/>
            <a:ext cx="5440680" cy="44805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28232" y="14447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28232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28232" y="2057400"/>
            <a:ext cx="49834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the "uncertain" scenario's precision (0.893) above 0.90.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Re-weight the utility so uncertainty and growth actually influence decisions.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TTA with a calibrated uncertainty (temperature scaling or MC-Dropout).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real growth data so the growing-defect scenario can be detected.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Re-implement published planners as full systems, not only their selection rules.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404040"/>
      </a:dk2>
      <a:lt2>
        <a:srgbClr val="D9D9D9"/>
      </a:lt2>
      <a:accent1>
        <a:srgbClr val="000000"/>
      </a:accent1>
      <a:accent2>
        <a:srgbClr val="595959"/>
      </a:accent2>
      <a:accent3>
        <a:srgbClr val="808080"/>
      </a:accent3>
      <a:accent4>
        <a:srgbClr val="A6A6A6"/>
      </a:accent4>
      <a:accent5>
        <a:srgbClr val="262626"/>
      </a:accent5>
      <a:accent6>
        <a:srgbClr val="BFBFBF"/>
      </a:accent6>
      <a:hlink>
        <a:srgbClr val="000000"/>
      </a:hlink>
      <a:folHlink>
        <a:srgbClr val="000000"/>
      </a:folHlink>
    </a:clrScheme>
    <a:fontScheme name="Monochro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Drone Utility Inspection -- UW-TIG</dc:title>
  <dc:subject>PptxGenJS Presentation</dc:subject>
  <dc:creator>Autonomous Drone Inspection Project</dc:creator>
  <cp:lastModifiedBy>Autonomous Drone Inspection Project</cp:lastModifiedBy>
  <cp:revision>1</cp:revision>
  <dcterms:created xsi:type="dcterms:W3CDTF">2026-10-23T01:43:13Z</dcterms:created>
  <dcterms:modified xsi:type="dcterms:W3CDTF">2026-10-23T01:43:13Z</dcterms:modified>
</cp:coreProperties>
</file>