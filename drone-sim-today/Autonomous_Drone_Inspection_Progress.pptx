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Shape 0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4" name="Shape 1"/>
          <p:cNvSpPr/>
          <p:nvPr/>
        </p:nvSpPr>
        <p:spPr>
          <a:xfrm>
            <a:off x="914400" y="914400"/>
            <a:ext cx="914400" cy="914400"/>
          </a:xfrm>
          <a:prstGeom prst="line">
            <a:avLst/>
          </a:prstGeom>
          <a:noFill/>
          <a:ln/>
        </p:spPr>
      </p:sp>
      <p:sp>
        <p:nvSpPr>
          <p:cNvPr id="5" name="Text 2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 ·  Autonomous Drone Utility Inspection</a:t>
            </a:r>
            <a:endParaRPr lang="en-US" sz="900" dirty="0"/>
          </a:p>
        </p:txBody>
      </p:sp>
      <p:sp>
        <p:nvSpPr>
          <p:cNvPr id="6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85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DRONE UTILITY INSPECTION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9728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Uncertainty-Weighted Temporal Information Gain for Closed-Loop Defect Inspection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468880"/>
            <a:ext cx="1280160" cy="0"/>
          </a:xfrm>
          <a:prstGeom prst="line">
            <a:avLst/>
          </a:prstGeom>
          <a:noFill/>
          <a:ln w="3810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6517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PSG College of Technology  ·  Department of Computer Science and Engineering, Coimbatore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guidance of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657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Ms. L. Karthika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0050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4348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N. Gopika Rani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78231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Co-Guide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852160" y="3383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members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852160" y="36758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Akhil Ramalingam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0" y="36758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23Z207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852160" y="402336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852160" y="404164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Anbuchandiran K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92640" y="404164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23Z209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438912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852160" y="440740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Neelesh Padmanabh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692640" y="44074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23Z241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475488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852160" y="47731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Saumiyaa Sri V L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92640" y="477316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23Z261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512064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852160" y="51389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Sowndarya Elangi S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9692640" y="513892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23Z269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486400"/>
            <a:ext cx="5788152" cy="0"/>
          </a:xfrm>
          <a:prstGeom prst="line">
            <a:avLst/>
          </a:prstGeom>
          <a:noFill/>
          <a:ln w="6350">
            <a:solidFill>
              <a:srgbClr val="D9D9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852160" y="55046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Therdhana J P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9692640" y="55046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23Z273</a:t>
            </a:r>
            <a:endParaRPr lang="en-US" sz="1400" dirty="0"/>
          </a:p>
        </p:txBody>
      </p:sp>
      <p:sp>
        <p:nvSpPr>
          <p:cNvPr id="29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0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infrastructure -- buildings, pipelines, towers -- needs repeated inspection for cracks, corrosion and leakage. Today's drone inspection is largely open-loop: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Fixed routes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drone follows a pre-planned path; what it detects never changes where it flies next.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90488" y="210312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19088" y="226771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memory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419088" y="263347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flight starts from scratch -- a defect seen last month is not tracked or compared.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Uncertainty ignored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low-confidence detection is treated like a confident one; nothing triggers a second look.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190488" y="3520440"/>
            <a:ext cx="5449824" cy="12344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19088" y="3685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Geometry-only planners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419088" y="4050792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Next-best-view methods (e.g. Isler et al. 2016) maximise visual coverage, with no notion of a defect.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0749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413248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closed-loop drone that detects defects with a trained model, measures its own uncertainty, remembers defects across missions, and decides where to fly next -- and show it beats published planners on the same testbed.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80160"/>
            <a:ext cx="110916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builds a simulated autonomous drone (PyBullet, gym-pybullet-drones) that inspects an open-air utility yard for surface defects. A YOLOv8 detector trained on 14,471 real UAV photographs (MBDD2025) finds cracks, leakage, abscission, corrosion and bulging, and a test-time-augmentation ensemble estimates each detection's uncertainty. Detections are ray-cast to 3-D positions and stored in a persistent memory (PostgreSQL + pgvector, Neo4j) that tracks each defect across missions. The proposed planner, UW-TIG, extends the information-gain next-best-view formulation of Isler et al. (2016) with a coverage guarantee, detection uncertainty, defect growth, revisit staleness and a two-step lookahead. It is compared on held-out test seeds against random search and five re-implemented published planners.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0.949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76879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76879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0.967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3514039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0511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0511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0.953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634227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score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33358" y="3931920"/>
            <a:ext cx="2606040" cy="1508760"/>
          </a:xfrm>
          <a:prstGeom prst="rect">
            <a:avLst/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033358" y="4096512"/>
            <a:ext cx="2606040" cy="7543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39%</a:t>
            </a:r>
            <a:endParaRPr lang="en-US" sz="3000" dirty="0"/>
          </a:p>
        </p:txBody>
      </p:sp>
      <p:sp>
        <p:nvSpPr>
          <p:cNvPr id="16" name="Text 14"/>
          <p:cNvSpPr txBox="1"/>
          <p:nvPr/>
        </p:nvSpPr>
        <p:spPr>
          <a:xfrm>
            <a:off x="9170518" y="4837176"/>
            <a:ext cx="2331720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flight than the best published planner at equal F1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53212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Closed-loop results, mean over 3 scenarios x 5 test seeds x 3 missions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Survey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916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514600"/>
                <a:gridCol w="2459736"/>
                <a:gridCol w="2459736"/>
              </a:tblGrid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Paper, authors &amp; year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Technique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Advantages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Limitations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al., ICRA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Information-gain NBV (base 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Entropy-based, cost-normalised next-best-view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Principled view selection; our base formulation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Geometry only -- no defects, no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al., ICRA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Receding-horizon NBV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Tree search, execute first step, replan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Plans beyond one greedy 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Built for exploration, not defect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Alamdari, Fata &amp; Smith, IJRR 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Persistent monitoring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Maximum-latency revisit scheduling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Guarantees regular revisits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Revisits by time alone; no perception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(GATSBI), 2023 /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Targeted bridge inspection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GTSP routing + defect detector (2024)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Cost-aware routing with a real detector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session; no uncertainty, no 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al., IEEE T-RO 2023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Informative path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MC-Dropout uncertainty drives the 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model uncertainty guides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session; goal is retraining the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Moon et al. (IA-TIGRIS), IEEE T-RO 2026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Incremental informative planning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Sampling-based planner, reuses past plans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Adapts online; fixed-wing and multirotor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information gain; no defect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Zha et al. (MBDD2025), Scientific Data 2025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UAV building-defect dataset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14,471 images, 5 classes, 35 detectors benchmarked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Large, public, real UAV defect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time-point; no growth sequences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&amp; Proposed Novelty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2120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Inferences from the survey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7548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Information-gain planners choose views well, but none know what a defect is.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Uncertainty-driven planning exists (Rückin et al.), but only within one flight and to retrain a model.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Revisit scheduling exists (Alamdari et al.), but by elapsed time, not by what was seen.</a:t>
            </a:r>
            <a:endParaRPr lang="en-US" sz="1500" dirty="0"/>
          </a:p>
          <a:p>
            <a:pPr marL="203200" indent="-203200">
              <a:spcAft>
                <a:spcPts val="16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reviewed work combines detector uncertainty, memory across missions and defect growth in one planner.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71032" y="1280160"/>
            <a:ext cx="56692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99632" y="1444752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UW-TIG: what is new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1996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99632" y="2057400"/>
            <a:ext cx="525780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guarantee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wall is seen once before anything else; fixes a recall ceiling shared by the base paper.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Detector uncertainty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unsure detections earn a second look (TTA ensemble of a trained YOLO model).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Cross-mission memory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 track each defect's identity and growth over missions.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Staleness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areas not seen for a while gain priority (after Alamdari et al.).</a:t>
            </a:r>
            <a:endParaRPr lang="en-US" sz="14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Two-step lookahead --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one move ahead instead of pure greedy (after Bircher et al.).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System Architecture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Planner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utility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2423160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8" name="Text 6"/>
          <p:cNvSpPr txBox="1"/>
          <p:nvPr/>
        </p:nvSpPr>
        <p:spPr>
          <a:xfrm>
            <a:off x="548640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54 candidate viewpoints and picks the next one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2852928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52928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Flight + Camera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2852928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drone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727448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2852928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Flies there (PID physics in demo, kinematic in sweeps) and captures a frame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157216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157216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Detector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57216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 + TTA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031736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5157216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defects; 5-view TTA gives confidence and uncertainty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461504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461504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Geometry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461504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Ray-cast to 3-D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336024" y="1988820"/>
            <a:ext cx="42976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7461504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each box onto the wall plane to get a 3-D position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9765792" y="1463040"/>
            <a:ext cx="187452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000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65792" y="1645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765792" y="202996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+ Neo4j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9765792" y="3246120"/>
            <a:ext cx="1874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defects across missions and records growth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10703052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485900" y="2926080"/>
            <a:ext cx="9217152" cy="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85900" y="2514600"/>
            <a:ext cx="0" cy="411480"/>
          </a:xfrm>
          <a:prstGeom prst="line">
            <a:avLst/>
          </a:prstGeom>
          <a:noFill/>
          <a:ln w="15875">
            <a:solidFill>
              <a:srgbClr val="595959"/>
            </a:solidFill>
            <a:prstDash val="solid"/>
            <a:headEnd type="triangle"/>
          </a:ln>
        </p:spPr>
      </p:sp>
      <p:sp>
        <p:nvSpPr>
          <p:cNvPr id="31" name="Text 29"/>
          <p:cNvSpPr txBox="1"/>
          <p:nvPr/>
        </p:nvSpPr>
        <p:spPr>
          <a:xfrm>
            <a:off x="1668780" y="2624328"/>
            <a:ext cx="8851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feedback: updated coverage, uncertainty and growth drive the next choice -- and the next mission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48640" y="4572000"/>
            <a:ext cx="11091672" cy="12801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environment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047488"/>
            <a:ext cx="106344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Open-air utility yard: two equipment buildings plus inspection panels on a pipe rack and a lattice tower -- 9 inspectable surfaces, 54 candidate viewpoints at 1.3 m and 2.2 m standoff. Four scenarios (static, uncertain, multi-defect, growing) with real MBDD2025 photos applied as wall textures.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Requirements, Dataset &amp; Preprocessing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requirements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PyBullet + gym-pybullet-drones (simulation, PID flight)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Ultralytics YOLOv8 / YOLO11, OpenCV, NumPy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+ pgvector (detection log, identity matching)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(defect graph across missions)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(runs both databases)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NVIDIA L4 GPU, rented (detector training only)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3205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491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Dataset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491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491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MBDD2025: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14,471 real UAV photos of building surfaces (Zha et al., Scientific Data 2025).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classes: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crack, leakage, abscission, corrosion, bulge.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/ 20 / 10 train / val / test; 1,448 held-out test images.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Imbalance: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has 2,018 instances vs. 22,702 for abscission.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SDNET2018: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crack augmentation planned; download pending.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092440" y="1280160"/>
            <a:ext cx="3547872" cy="443484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1444752"/>
            <a:ext cx="3090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Preprocessing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3210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21040" y="2057400"/>
            <a:ext cx="3136392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Aspect-correct crop: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photos cropped to each wall's true shape at 1536 px (was stretched ~2.2x).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Square pixels: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320x240 camera frames resampled before detection.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Oversampling: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bulge images repeated ~4x in training.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TTA ensemble: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photometric variants per frame give an uncertainty score.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On-wall check: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hits outside the wall rejected -- removed 51-75% of false positives.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Detection Model &amp; Evaluation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4206240" cy="434340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37947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YOLOv8s, 640 px input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epochs on an NVIDIA L4, bulge oversampled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YOLOv8n, 320 px, 30 epochs on CPU -- mAP50 0.685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Uncertainty: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of confidence across the TTA views</a:t>
            </a:r>
            <a:endParaRPr lang="en-US" sz="135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Retrain: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YOLO11m reached mAP50 0.890 but lower precision (0.869); not yet adopted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983480" y="1280160"/>
            <a:ext cx="6675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set: 1,448 images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600200"/>
          <a:ext cx="6656832" cy="914400"/>
        </p:xfrm>
        <a:graphic>
          <a:graphicData uri="http://schemas.openxmlformats.org/drawingml/2006/table">
            <a:tbl>
              <a:tblPr/>
              <a:tblGrid>
                <a:gridCol w="2724912"/>
                <a:gridCol w="1307592"/>
                <a:gridCol w="1307592"/>
                <a:gridCol w="1316736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Leakage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Abscission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Corrosion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Mean (all classes)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983480" y="4434840"/>
            <a:ext cx="66568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mAP50 0.884   ·   mAP50-95 0.506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983480" y="4892040"/>
            <a:ext cx="665683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Calibration check: expected calibration error is 0.29-0.33, and uncertainty is slightly lower on wrong detections than right ones -- so uncertainty is used only to rank views within a mission, never as a probability.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UW-TIG Planner &amp; Closed-Loop Results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34440"/>
            <a:ext cx="11091672" cy="566928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234440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Utility(v) = </a:t>
            </a:r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1.0·InfoGain + 1.5·Uncertainty + 2.0·Growth + 1.0·Staleness − 0.4·Cost</a:t>
            </a:r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(coverage phase first; 2-step lookahead)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65960"/>
          <a:ext cx="694944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896112"/>
                <a:gridCol w="868680"/>
                <a:gridCol w="777240"/>
                <a:gridCol w="932688"/>
                <a:gridCol w="86868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Precision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Flight (m)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Coverage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baseline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0.837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Isler et al. 2016 (base paper)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Bircher et al. 2016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Dhami et al. (GATSBI)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Alamdari et al. 2014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Rückin et al.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UW-TIG (ours)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26680" y="1965960"/>
            <a:ext cx="3913632" cy="3072384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955280" y="213055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results show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955280" y="25328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955280" y="2743200"/>
            <a:ext cx="3502152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Ties the best published planner on F1 (0.953 vs 0.950) while flying 39% less.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 phase is decisive: F1 0.680 without it.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uncertainty or growth changes no metric: the coverage phase ignores both, and these scenarios have no real growth.</a:t>
            </a:r>
            <a:endParaRPr lang="en-US" sz="1250" dirty="0"/>
          </a:p>
          <a:p>
            <a:pPr marL="203200" indent="-203200">
              <a:spcAft>
                <a:spcPts val="800"/>
              </a:spcAft>
              <a:buSzPct val="100000"/>
              <a:buChar char="▪"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Rückin et al. has slightly higher precision (0.959).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512064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over static, uncertain and multi-defect scenarios x 5 test seeds x 3 missions; each published planner's selection rule re-implemented on the same testbed.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 &amp; Future Work</a:t>
            </a:r>
            <a:endParaRPr lang="en-US" sz="2600" dirty="0"/>
          </a:p>
        </p:txBody>
      </p:sp>
      <p:sp>
        <p:nvSpPr>
          <p:cNvPr id="3" name="Text 3"/>
          <p:cNvSpPr/>
          <p:nvPr>
            <p:ph idx="104" type="body" hasCustomPrompt="1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closed loop: detect, assess uncertainty, remember, replan, reinspect.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UW-TIG reaches precision 0.949, recall 0.967, F1 0.953 on held-out test seeds.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 the strongest of five published planners on detection while flying far less.</a:t>
            </a:r>
            <a:endParaRPr lang="en-US" sz="1500" dirty="0"/>
          </a:p>
          <a:p>
            <a:pPr marL="203200" indent="-203200">
              <a:spcAft>
                <a:spcPts val="18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design choice was fixed on separate development seeds before testing.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199632" y="1280160"/>
            <a:ext cx="5440680" cy="4480560"/>
          </a:xfrm>
          <a:prstGeom prst="rect">
            <a:avLst/>
          </a:prstGeom>
          <a:solidFill>
            <a:srgbClr val="F3F3F3"/>
          </a:solidFill>
          <a:ln w="12700">
            <a:solidFill>
              <a:srgbClr val="F3F3F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28232" y="1444752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Future work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28232" y="1847088"/>
            <a:ext cx="54864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28232" y="2057400"/>
            <a:ext cx="49834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the "uncertain" scenario's precision (0.893) above 0.90.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Re-weight the utility so uncertainty and growth actually influence decisions.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TTA with a calibrated uncertainty (temperature scaling or MC-Dropout).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real growth data so the growing-defect scenario can be detected.</a:t>
            </a:r>
            <a:endParaRPr lang="en-US" sz="1500" dirty="0"/>
          </a:p>
          <a:p>
            <a:pPr marL="203200" indent="-203200">
              <a:spcAft>
                <a:spcPts val="1200"/>
              </a:spcAft>
              <a:buSzPct val="100000"/>
              <a:buChar char="▪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Re-implement published planners as full systems, not only their selection rules.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404040"/>
      </a:dk2>
      <a:lt2>
        <a:srgbClr val="D9D9D9"/>
      </a:lt2>
      <a:accent1>
        <a:srgbClr val="000000"/>
      </a:accent1>
      <a:accent2>
        <a:srgbClr val="595959"/>
      </a:accent2>
      <a:accent3>
        <a:srgbClr val="808080"/>
      </a:accent3>
      <a:accent4>
        <a:srgbClr val="A6A6A6"/>
      </a:accent4>
      <a:accent5>
        <a:srgbClr val="262626"/>
      </a:accent5>
      <a:accent6>
        <a:srgbClr val="BFBFBF"/>
      </a:accent6>
      <a:hlink>
        <a:srgbClr val="000000"/>
      </a:hlink>
      <a:folHlink>
        <a:srgbClr val="000000"/>
      </a:folHlink>
    </a:clrScheme>
    <a:fontScheme name="Monochrom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Autonomous Drone Utility Inspection -- UW-TIG</dc:title>
  <dc:subject>PptxGenJS Presentation</dc:subject>
  <dc:creator>Autonomous Drone Inspection Project</dc:creator>
  <cp:lastModifiedBy>Autonomous Drone Inspection Project</cp:lastModifiedBy>
  <cp:revision>1</cp:revision>
  <dcterms:created xsi:type="dcterms:W3CDTF">2026-10-08T16:47:50Z</dcterms:created>
  <dcterms:modified xsi:type="dcterms:W3CDTF">2026-10-08T16:47:50Z</dcterms:modified>
</cp:coreProperties>
</file>