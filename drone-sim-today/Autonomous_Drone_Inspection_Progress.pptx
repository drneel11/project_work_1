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Shape 0"/>
          <p:cNvSpPr/>
          <p:nvPr/>
        </p:nvSpPr>
        <p:spPr>
          <a:xfrm>
            <a:off x="914400" y="914400"/>
            <a:ext cx="914400" cy="914400"/>
          </a:xfrm>
          <a:prstGeom prst="line">
            <a:avLst/>
          </a:prstGeom>
          <a:noFill/>
          <a:ln/>
        </p:spPr>
      </p:sp>
      <p:sp>
        <p:nvSpPr>
          <p:cNvPr id="4" name="Text 1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Drone Utility Inspection</a:t>
            </a:r>
            <a:endParaRPr lang="en-US" sz="9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Autonomous Drone Utility Inspection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5146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UW-TIG: Uncertainty-Weighted Temporal Information Gain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3200400"/>
            <a:ext cx="54864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3429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UW-TIG: precision 0.949  ·  recall 0.967  ·  F1 0.953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862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held-out test seeds, measured head-to-head against five re-implemented published planners in one testbed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-- Progress, Novelty, Literature Survey &amp; Results</a:t>
            </a:r>
            <a:endParaRPr lang="en-US" sz="12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9" name="Text 2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Gap, and the Closed-Loop System That Closes It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NBV planners -- including the base paper -- pick viewpoints by pure geometric information gain: no defect semantics, no cross-mission memory, no validated real-detector uncertainty. This project's loop adds all three, closing on itself every mission: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1783080" cy="12344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2148840"/>
            <a:ext cx="16367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(UW-TIG)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331720" y="2766060"/>
            <a:ext cx="46863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800350" y="2148840"/>
            <a:ext cx="1783080" cy="12344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73502" y="2148840"/>
            <a:ext cx="16367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+ Camera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(PID physics /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kinematic sim)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83430" y="2766060"/>
            <a:ext cx="46863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052060" y="2148840"/>
            <a:ext cx="1783080" cy="12344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25212" y="2148840"/>
            <a:ext cx="16367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(YOLO +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835140" y="2766060"/>
            <a:ext cx="46863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303770" y="2148840"/>
            <a:ext cx="1783080" cy="12344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76922" y="2148840"/>
            <a:ext cx="16367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(ray-cast -&gt;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position)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086850" y="2766060"/>
            <a:ext cx="46863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555480" y="2148840"/>
            <a:ext cx="1783080" cy="123444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28632" y="2148840"/>
            <a:ext cx="16367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(Postgres +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0447020" y="3383280"/>
            <a:ext cx="0" cy="50292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40180" y="3886200"/>
            <a:ext cx="90068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40180" y="3383280"/>
            <a:ext cx="0" cy="50292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head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48640" y="3977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 / growth written back into the belief -- feeds the planner's very next choice, and seeds the next mission's start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480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inspectable walls/panels  ·  54 candidate viewpoints  ·  12 planners in PLANNER_REGISTRY  ·  5-seed x 4-scenario x 3-mission sweep</a:t>
            </a:r>
            <a:endParaRPr lang="en-US" sz="1100" dirty="0"/>
          </a:p>
        </p:txBody>
      </p:sp>
      <p:sp>
        <p:nvSpPr>
          <p:cNvPr id="23" name="Text 2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Survey: Where UW-TIG Sits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371600"/>
                <a:gridCol w="1463040"/>
                <a:gridCol w="1280160"/>
                <a:gridCol w="1097280"/>
                <a:gridCol w="1188720"/>
                <a:gridCol w="1188720"/>
              </a:tblGrid>
              <a:tr h="3703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Uncertainty-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aware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Cross-mission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/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Cost-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aware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detector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Guarantee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(baseline) †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Isler et al. 2016 (base paper) †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stated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Bircher et al. 2016 (RH-NBV) †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stated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Dhami et al., GATSBI †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 only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stated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Pred-NBV / MAP-NBV (Dhami et al.)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stated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Liu et al. 2022 (uncertainty CPP)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bound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Taioli et al. 2023 (POMDP/MCTS)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(1 session)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Assumed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POMDP-optimal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Alamdari, Fata &amp; Smith 2014 †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 approx.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Rückin et al. 2022-23 †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stated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UW-TIG (this project)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Partial*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303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† Core selection rule re-implemented and measured head-to-head in this testbed.   * Inherited (1 - 1/e) greedy guarantee on the coverage sub-objective only. No cited work combines all six columns.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6692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relatives: GATSBI combines a real detector with cost-aware planning but has no memory or uncertainty term; Rückin et al. plan with real epistemic uncertainty in a single session, and surfaced Expected Calibration Error, a metric this project then ran on itself (next slide). Simulation stays on PyBullet -- the detector trains and evaluates only on real MBDD2025 photos as wall textures, so a game-engine renderer would not change what it learns from.</a:t>
            </a:r>
            <a:endParaRPr lang="en-US" sz="930" dirty="0"/>
          </a:p>
        </p:txBody>
      </p:sp>
      <p:sp>
        <p:nvSpPr>
          <p:cNvPr id="6" name="Text 2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Novelty: Five Additions, Independently Ablated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●"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Coverage-guarantee phase -- visits every wall once before full utility; fixes a recall ceiling that silently affected Isler-NBV too</a:t>
            </a:r>
            <a:endParaRPr lang="en-US" sz="1200" dirty="0"/>
          </a:p>
          <a:p>
            <a:pPr marL="228600" indent="-228600">
              <a:spcAft>
                <a:spcPts val="500"/>
              </a:spcAft>
              <a:buSzPct val="100000"/>
              <a:buChar char="●"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detector uncertainty -- TTA-ensemble variance from an actually-trained YOLO model, not an assumed oracle</a:t>
            </a:r>
            <a:endParaRPr lang="en-US" sz="1200" dirty="0"/>
          </a:p>
          <a:p>
            <a:pPr marL="228600" indent="-228600">
              <a:spcAft>
                <a:spcPts val="500"/>
              </a:spcAft>
              <a:buSzPct val="100000"/>
              <a:buChar char="●"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cross-mission memory -- Postgres + Neo4j track each defect's identity and growth across separate missions</a:t>
            </a:r>
            <a:endParaRPr lang="en-US" sz="1200" dirty="0"/>
          </a:p>
          <a:p>
            <a:pPr marL="228600" indent="-228600">
              <a:spcAft>
                <a:spcPts val="500"/>
              </a:spcAft>
              <a:buSzPct val="100000"/>
              <a:buChar char="●"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Staleness term -- revisits a spot because it hasn't been looked at in a while (Alamdari, Fata &amp; Smith 2014)</a:t>
            </a:r>
            <a:endParaRPr lang="en-US" sz="1200" dirty="0"/>
          </a:p>
          <a:p>
            <a:pPr marL="228600" indent="-228600">
              <a:spcAft>
                <a:spcPts val="500"/>
              </a:spcAft>
              <a:buSzPct val="100000"/>
              <a:buChar char="●"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2-step receding-horizon lookahead -- plans one step ahead instead of pure greedy (Bircher et al. 2016; GATSBI)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188720"/>
                <a:gridCol w="1097280"/>
                <a:gridCol w="146304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Loc. err (m)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Flight (m)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uwtig (full)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uwtig_no_uncertainty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uwtig_no_temporal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uwtig_no_staleness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uwtig_no_coverage_first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uwtig_no_lookahead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phase is decisive: F1 0.953 with it, 0.680 without. Removing the staleness term or the lookahead scores slightly HIGHER and flies less -- once a single look is ~99% reliable, they add flying without adding accuracy.</a:t>
            </a:r>
            <a:endParaRPr lang="en-US" sz="1050" dirty="0"/>
          </a:p>
        </p:txBody>
      </p:sp>
      <p:sp>
        <p:nvSpPr>
          <p:cNvPr id="6" name="Text 2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Head-to-Head vs. Published Planners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paper's core selection rule, re-implemented in this testbed -- same detector, scenes, seeds and scoring. Mean over static / uncertain / multi-defect x 5 test seeds x 3 missions.</a:t>
            </a:r>
            <a:endParaRPr 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  <a:gridCol w="1005840"/>
                <a:gridCol w="914400"/>
                <a:gridCol w="1280160"/>
                <a:gridCol w="1188720"/>
                <a:gridCol w="1188720"/>
                <a:gridCol w="128016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single-look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Loc. err (m)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Flight (m)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baseline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Isler et al. 2016 (base paper)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Bircher et al. 2016 (RH-NBV)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Dhami et al., GATSBI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Rückin et al. 2023 (IPP)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Alamdari et al. 2014 (latency)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UW-TIG (this project)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376672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●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UW-TIG and Rückin et al. 2023 (IPP) tie on F1 (0.953 vs 0.950, inside seed noise) -- but UW-TIG flies 39% less (125.1 m vs 204.3 m).</a:t>
            </a:r>
            <a:endParaRPr lang="en-US" sz="1250" dirty="0"/>
          </a:p>
          <a:p>
            <a:pPr marL="228600" indent="-2286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 to each paper's selection rule, not its full system (no RRT sampling, 3D mapping or online model retraining).</a:t>
            </a:r>
            <a:endParaRPr lang="en-US" sz="1250" dirty="0"/>
          </a:p>
        </p:txBody>
      </p:sp>
      <p:sp>
        <p:nvSpPr>
          <p:cNvPr id="6" name="Text 2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Perception &amp; Calibration: Honest Numbers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 detectors trained on MBDD2025 (14,471 real UAV defect photos), scored on the held-out 1,448-image test set.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 (YOLOv8n, 320px, 30ep)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GPU (YOLOv8s, 640px, 100ep)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 (mean)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(mean)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11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literature: Li, Shi &amp; Sun 2026 report 0.932 / 0.924 (private dataset, never released); Inam et al. 2023 report 0.977 / 0.967 (crack-only, strictly easier). MBDD2025 is the only fully public dataset of the three.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48640" y="4160520"/>
            <a:ext cx="110642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42976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finding: is the uncertainty signal trustworthy?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636008"/>
            <a:ext cx="10607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ECE is high (0.29-0.33) for every planner, well above a calibrated model's near-zero. The uncertainty gap (FP uncertainty minus TP uncertainty) is NEGATIVE for every planner (-0.12 to -0.08) -- the opposite of what would validate "high uncertainty means likely wrong". This doesn't invalidate the measured precision/recall (uncertainty is only a relative ranking signal, never an absolute threshold), but it is logged as a next step, not hidden.</a:t>
            </a:r>
            <a:endParaRPr lang="en-US" sz="1150" dirty="0"/>
          </a:p>
        </p:txBody>
      </p:sp>
      <p:sp>
        <p:nvSpPr>
          <p:cNvPr id="9" name="Text 2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 Proof: No Physical Drone Required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demo_uwtig_flight.py --planner &lt;name&gt; flies any planner under real PID-controlled physics (gym-pybullet-drones) -- not kinematic teleport, not a fixed patrol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scenario, same seed, same budget, three planners: UW-TIG, Isler-NBV, Random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make_comparison_video.py splices frame-exact, same-timestep videos side by side</a:t>
            </a:r>
            <a:endParaRPr lang="en-US" sz="1400" dirty="0"/>
          </a:p>
        </p:txBody>
      </p:sp>
      <p:pic>
        <p:nvPicPr>
          <p:cNvPr id="4" name="Image 0" descr="D:\projecy_work1\drone-sim-today\report_assets\comparison_frame_b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2834640"/>
            <a:ext cx="9144000" cy="2286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508760" y="2834640"/>
            <a:ext cx="9144000" cy="228600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5212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to right: UW-TIG, Isler-NBV, Random -- same scenario, seed, and timestep. By late mission, UW-TIG works a feature-dense real defect target while Isler-NBV is caught mid-detection on a wall the others aren't even looking at.</a:t>
            </a:r>
            <a:endParaRPr lang="en-US" sz="1150" dirty="0"/>
          </a:p>
        </p:txBody>
      </p:sp>
      <p:sp>
        <p:nvSpPr>
          <p:cNvPr id="7" name="Text 2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●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the "uncertain" scenario's precision past 0.90 -- currently 0.893, via scenario-specific confirmation-rule tuning</a:t>
            </a:r>
            <a:endParaRPr lang="en-US" sz="1300" dirty="0"/>
          </a:p>
          <a:p>
            <a:pPr marL="228600" indent="-228600">
              <a:spcAft>
                <a:spcPts val="900"/>
              </a:spcAft>
              <a:buSzPct val="100000"/>
              <a:buChar char="●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"growing" scenario's domain gap -- recall is ~0%; mix in synthetic training data, or get a longitudinal real dataset</a:t>
            </a:r>
            <a:endParaRPr lang="en-US" sz="1300" dirty="0"/>
          </a:p>
          <a:p>
            <a:pPr marL="228600" indent="-228600">
              <a:spcAft>
                <a:spcPts val="900"/>
              </a:spcAft>
              <a:buSzPct val="100000"/>
              <a:buChar char="●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precision gap with Rückin et al. IPP (0.959 vs 0.949) by re-weighting UW-TIG's utility terms</a:t>
            </a:r>
            <a:endParaRPr lang="en-US" sz="1300" dirty="0"/>
          </a:p>
          <a:p>
            <a:pPr marL="228600" indent="-228600">
              <a:spcAft>
                <a:spcPts val="900"/>
              </a:spcAft>
              <a:buSzPct val="100000"/>
              <a:buChar char="●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uncertainty past TTA-ensemble variance -- prototype MC-Dropout (needs dropout spliced into YOLO's detection head + a full retrain) or try temperature scaling first</a:t>
            </a:r>
            <a:endParaRPr lang="en-US" sz="1300" dirty="0"/>
          </a:p>
          <a:p>
            <a:pPr marL="228600" indent="-228600">
              <a:spcAft>
                <a:spcPts val="900"/>
              </a:spcAft>
              <a:buSzPct val="100000"/>
              <a:buChar char="●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Re-implement the published baselines at full-system fidelity (RRT sampling, 3D mapping, online retraining), not just the selection rule</a:t>
            </a:r>
            <a:endParaRPr lang="en-US" sz="1300" dirty="0"/>
          </a:p>
          <a:p>
            <a:pPr marL="228600" indent="-228600">
              <a:spcAft>
                <a:spcPts val="900"/>
              </a:spcAft>
              <a:buSzPct val="100000"/>
              <a:buChar char="●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yolo11m GPU retrain (running now) beats the current detector, make it the default and re-run the full sweep</a:t>
            </a:r>
            <a:endParaRPr lang="en-US" sz="1300" dirty="0"/>
          </a:p>
          <a:p>
            <a:pPr marL="228600" indent="-228600">
              <a:spcAft>
                <a:spcPts val="900"/>
              </a:spcAft>
              <a:buSzPct val="100000"/>
              <a:buChar char="●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SDNET2018 crack-class augmentation, and move toward pipeline segments and truss rigs as first-class inspectable geometry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5623560"/>
            <a:ext cx="1106424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57607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UW-TIG precision 0.949, recall 0.967, F1 0.953 on held-out test seeds -- trade-offs reported plainly throughout, including where the numbers don't flatter the project.</a:t>
            </a:r>
            <a:endParaRPr lang="en-US" sz="1200" dirty="0"/>
          </a:p>
        </p:txBody>
      </p:sp>
      <p:sp>
        <p:nvSpPr>
          <p:cNvPr id="6" name="Text 2"/>
          <p:cNvSpPr/>
          <p:nvPr>
            <p:ph idx="103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404040"/>
      </a:dk2>
      <a:lt2>
        <a:srgbClr val="D9D9D9"/>
      </a:lt2>
      <a:accent1>
        <a:srgbClr val="000000"/>
      </a:accent1>
      <a:accent2>
        <a:srgbClr val="595959"/>
      </a:accent2>
      <a:accent3>
        <a:srgbClr val="808080"/>
      </a:accent3>
      <a:accent4>
        <a:srgbClr val="A6A6A6"/>
      </a:accent4>
      <a:accent5>
        <a:srgbClr val="262626"/>
      </a:accent5>
      <a:accent6>
        <a:srgbClr val="BFBFBF"/>
      </a:accent6>
      <a:hlink>
        <a:srgbClr val="000000"/>
      </a:hlink>
      <a:folHlink>
        <a:srgbClr val="000000"/>
      </a:folHlink>
    </a:clrScheme>
    <a:fontScheme name="Monochro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Autonomous Drone Utility Inspection -- UW-TIG</dc:title>
  <dc:subject>PptxGenJS Presentation</dc:subject>
  <dc:creator>Autonomous Drone Inspection Project</dc:creator>
  <cp:lastModifiedBy>Autonomous Drone Inspection Project</cp:lastModifiedBy>
  <cp:revision>1</cp:revision>
  <dcterms:created xsi:type="dcterms:W3CDTF">2026-10-06T01:54:46Z</dcterms:created>
  <dcterms:modified xsi:type="dcterms:W3CDTF">2026-10-06T01:54:46Z</dcterms:modified>
</cp:coreProperties>
</file>