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700" b="1" dirty="0">
                <a:solidFill>
                  <a:srgbClr val="000000"/>
                </a:solidFill>
                <a:latin typeface="Cambria" pitchFamily="34" charset="0"/>
                <a:ea typeface="Cambria" pitchFamily="34" charset="-122"/>
                <a:cs typeface="Cambria" pitchFamily="34" charset="-120"/>
              </a:defRPr>
            </a:lvl1pPr>
          </a:lstStyle>
          <a:p>
            <a:pPr algn="l" indent="0" marL="0">
              <a:buNone/>
            </a:pPr>
            <a:endParaRPr lang="en-US" sz="2700" dirty="0"/>
          </a:p>
        </p:txBody>
      </p:sp>
      <p:sp>
        <p:nvSpPr>
          <p:cNvPr id="3" name="Shape 0"/>
          <p:cNvSpPr/>
          <p:nvPr/>
        </p:nvSpPr>
        <p:spPr>
          <a:xfrm>
            <a:off x="914400" y="914400"/>
            <a:ext cx="914400" cy="914400"/>
          </a:xfrm>
          <a:prstGeom prst="line">
            <a:avLst/>
          </a:prstGeom>
          <a:noFill/>
          <a:ln/>
        </p:spPr>
      </p:sp>
      <p:sp>
        <p:nvSpPr>
          <p:cNvPr id="4" name="Text 1"/>
          <p:cNvSpPr/>
          <p:nvPr/>
        </p:nvSpPr>
        <p:spPr>
          <a:xfrm>
            <a:off x="548640" y="6510528"/>
            <a:ext cx="7315200" cy="274320"/>
          </a:xfrm>
          <a:prstGeom prst="rect">
            <a:avLst/>
          </a:prstGeom>
          <a:noFill/>
          <a:ln/>
        </p:spPr>
        <p:txBody>
          <a:bodyPr wrap="square" lIns="0" tIns="0" rIns="0" bIns="0" rtlCol="0" anchor="ctr"/>
          <a:lstStyle/>
          <a:p>
            <a:pPr algn="l" indent="0" marL="0">
              <a:buNone/>
            </a:pPr>
            <a:r>
              <a:rPr lang="en-US" sz="900" dirty="0">
                <a:solidFill>
                  <a:srgbClr val="808080"/>
                </a:solidFill>
                <a:latin typeface="Calibri" pitchFamily="34" charset="0"/>
                <a:ea typeface="Calibri" pitchFamily="34" charset="-122"/>
                <a:cs typeface="Calibri" pitchFamily="34" charset="-120"/>
              </a:rPr>
              <a:t>Autonomous Drone Utility Inspection</a:t>
            </a:r>
            <a:endParaRPr lang="en-US" sz="900" dirty="0"/>
          </a:p>
        </p:txBody>
      </p:sp>
      <p:sp>
        <p:nvSpPr>
          <p:cNvPr id="5" name="Text 2"/>
          <p:cNvSpPr/>
          <p:nvPr>
            <p:ph idx="103" type="body" hasCustomPrompt="1"/>
          </p:nvPr>
        </p:nvSpPr>
        <p:spPr>
          <a:xfrm>
            <a:off x="11247120" y="6510528"/>
            <a:ext cx="548640" cy="274320"/>
          </a:xfrm>
          <a:prstGeom prst="rect">
            <a:avLst/>
          </a:prstGeom>
          <a:noFill/>
          <a:ln/>
        </p:spPr>
        <p:txBody>
          <a:bodyPr wrap="square" rtlCol="0"/>
          <a:lstStyle>
            <a:lvl1pPr algn="r" indent="0" marL="0">
              <a:buNone/>
              <a:defRPr lang="en-US" sz="900" dirty="0">
                <a:solidFill>
                  <a:srgbClr val="808080"/>
                </a:solidFill>
                <a:latin typeface="Calibri" pitchFamily="34" charset="0"/>
                <a:ea typeface="Calibri" pitchFamily="34" charset="-122"/>
                <a:cs typeface="Calibri" pitchFamily="34" charset="-120"/>
              </a:defRPr>
            </a:lvl1pPr>
          </a:lstStyle>
          <a:p>
            <a:pPr algn="r" indent="0" marL="0">
              <a:buNone/>
            </a:pP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85800"/>
            <a:ext cx="10881360" cy="777240"/>
          </a:xfrm>
          <a:prstGeom prst="rect">
            <a:avLst/>
          </a:prstGeom>
          <a:noFill/>
          <a:ln/>
        </p:spPr>
        <p:txBody>
          <a:bodyPr wrap="square" lIns="0" tIns="0" rIns="0" bIns="0" rtlCol="0" anchor="t"/>
          <a:lstStyle/>
          <a:p>
            <a:pPr algn="l" indent="0" marL="0">
              <a:buNone/>
            </a:pPr>
            <a:r>
              <a:rPr lang="en-US" sz="3300" b="1" dirty="0">
                <a:solidFill>
                  <a:srgbClr val="000000"/>
                </a:solidFill>
                <a:latin typeface="Cambria" pitchFamily="34" charset="0"/>
                <a:ea typeface="Cambria" pitchFamily="34" charset="-122"/>
                <a:cs typeface="Cambria" pitchFamily="34" charset="-120"/>
              </a:rPr>
              <a:t>Autonomous Drone Utility Inspection</a:t>
            </a:r>
            <a:endParaRPr lang="en-US" sz="3300" dirty="0"/>
          </a:p>
        </p:txBody>
      </p:sp>
      <p:sp>
        <p:nvSpPr>
          <p:cNvPr id="3" name="Text 1"/>
          <p:cNvSpPr txBox="1"/>
          <p:nvPr/>
        </p:nvSpPr>
        <p:spPr>
          <a:xfrm>
            <a:off x="640080" y="1417320"/>
            <a:ext cx="10881360" cy="411480"/>
          </a:xfrm>
          <a:prstGeom prst="rect">
            <a:avLst/>
          </a:prstGeom>
          <a:noFill/>
          <a:ln/>
        </p:spPr>
        <p:txBody>
          <a:bodyPr wrap="square" lIns="0" tIns="0" rIns="0" bIns="0" rtlCol="0" anchor="ctr"/>
          <a:lstStyle/>
          <a:p>
            <a:pPr algn="l" indent="0" marL="0">
              <a:buNone/>
            </a:pPr>
            <a:r>
              <a:rPr lang="en-US" sz="1550" dirty="0">
                <a:solidFill>
                  <a:srgbClr val="404040"/>
                </a:solidFill>
                <a:latin typeface="Calibri" pitchFamily="34" charset="0"/>
                <a:ea typeface="Calibri" pitchFamily="34" charset="-122"/>
                <a:cs typeface="Calibri" pitchFamily="34" charset="-120"/>
              </a:rPr>
              <a:t>UW-TIG: Uncertainty-Weighted Temporal Information Gain</a:t>
            </a:r>
            <a:endParaRPr lang="en-US" sz="1550" dirty="0"/>
          </a:p>
        </p:txBody>
      </p:sp>
      <p:sp>
        <p:nvSpPr>
          <p:cNvPr id="4" name="Shape 2"/>
          <p:cNvSpPr/>
          <p:nvPr/>
        </p:nvSpPr>
        <p:spPr>
          <a:xfrm>
            <a:off x="640080" y="1920240"/>
            <a:ext cx="5486400" cy="0"/>
          </a:xfrm>
          <a:prstGeom prst="line">
            <a:avLst/>
          </a:prstGeom>
          <a:noFill/>
          <a:ln w="12700">
            <a:solidFill>
              <a:srgbClr val="000000"/>
            </a:solidFill>
            <a:prstDash val="solid"/>
          </a:ln>
        </p:spPr>
      </p:sp>
      <p:sp>
        <p:nvSpPr>
          <p:cNvPr id="5" name="Text 3"/>
          <p:cNvSpPr txBox="1"/>
          <p:nvPr/>
        </p:nvSpPr>
        <p:spPr>
          <a:xfrm>
            <a:off x="640080" y="2057400"/>
            <a:ext cx="10881360" cy="411480"/>
          </a:xfrm>
          <a:prstGeom prst="rect">
            <a:avLst/>
          </a:prstGeom>
          <a:noFill/>
          <a:ln/>
        </p:spPr>
        <p:txBody>
          <a:bodyPr wrap="square" lIns="0" tIns="0" rIns="0" bIns="0" rtlCol="0" anchor="ctr"/>
          <a:lstStyle/>
          <a:p>
            <a:pPr indent="0" marL="0">
              <a:buNone/>
            </a:pPr>
            <a:r>
              <a:rPr lang="en-US" sz="1650" b="1" dirty="0">
                <a:solidFill>
                  <a:srgbClr val="000000"/>
                </a:solidFill>
                <a:latin typeface="Cambria" pitchFamily="34" charset="0"/>
                <a:ea typeface="Cambria" pitchFamily="34" charset="-122"/>
                <a:cs typeface="Cambria" pitchFamily="34" charset="-120"/>
              </a:rPr>
              <a:t>UW-TIG: precision 0.949  ·  recall 0.967  ·  F1 0.953</a:t>
            </a:r>
            <a:endParaRPr lang="en-US" sz="1650" dirty="0"/>
          </a:p>
        </p:txBody>
      </p:sp>
      <p:sp>
        <p:nvSpPr>
          <p:cNvPr id="6" name="Text 4"/>
          <p:cNvSpPr txBox="1"/>
          <p:nvPr/>
        </p:nvSpPr>
        <p:spPr>
          <a:xfrm>
            <a:off x="640080" y="2450592"/>
            <a:ext cx="10515600" cy="411480"/>
          </a:xfrm>
          <a:prstGeom prst="rect">
            <a:avLst/>
          </a:prstGeom>
          <a:noFill/>
          <a:ln/>
        </p:spPr>
        <p:txBody>
          <a:bodyPr wrap="square" lIns="0" tIns="0" rIns="0" bIns="0" rtlCol="0" anchor="ctr"/>
          <a:lstStyle/>
          <a:p>
            <a:pPr indent="0" marL="0">
              <a:buNone/>
            </a:pPr>
            <a:r>
              <a:rPr lang="en-US" sz="1150" i="1" dirty="0">
                <a:solidFill>
                  <a:srgbClr val="595959"/>
                </a:solidFill>
                <a:latin typeface="Calibri" pitchFamily="34" charset="0"/>
                <a:ea typeface="Calibri" pitchFamily="34" charset="-122"/>
                <a:cs typeface="Calibri" pitchFamily="34" charset="-120"/>
              </a:rPr>
              <a:t>on held-out test seeds, measured head-to-head against five re-implemented published planners in one testbed</a:t>
            </a:r>
            <a:endParaRPr lang="en-US" sz="1150" dirty="0"/>
          </a:p>
        </p:txBody>
      </p:sp>
      <p:sp>
        <p:nvSpPr>
          <p:cNvPr id="7" name="Shape 5"/>
          <p:cNvSpPr/>
          <p:nvPr/>
        </p:nvSpPr>
        <p:spPr>
          <a:xfrm>
            <a:off x="640080" y="3063240"/>
            <a:ext cx="10881360" cy="0"/>
          </a:xfrm>
          <a:prstGeom prst="line">
            <a:avLst/>
          </a:prstGeom>
          <a:noFill/>
          <a:ln w="9525">
            <a:solidFill>
              <a:srgbClr val="D9D9D9"/>
            </a:solidFill>
            <a:prstDash val="solid"/>
          </a:ln>
        </p:spPr>
      </p:sp>
      <p:sp>
        <p:nvSpPr>
          <p:cNvPr id="8" name="Text 6"/>
          <p:cNvSpPr txBox="1"/>
          <p:nvPr/>
        </p:nvSpPr>
        <p:spPr>
          <a:xfrm>
            <a:off x="640080" y="3246120"/>
            <a:ext cx="10881360" cy="32004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PSG College of Technology -- Department of Computer Science and Engineering, Coimbatore</a:t>
            </a:r>
            <a:endParaRPr lang="en-US" sz="1250" dirty="0"/>
          </a:p>
        </p:txBody>
      </p:sp>
      <p:sp>
        <p:nvSpPr>
          <p:cNvPr id="9" name="Text 7"/>
          <p:cNvSpPr txBox="1"/>
          <p:nvPr/>
        </p:nvSpPr>
        <p:spPr>
          <a:xfrm>
            <a:off x="640080" y="3611880"/>
            <a:ext cx="10881360" cy="685800"/>
          </a:xfrm>
          <a:prstGeom prst="rect">
            <a:avLst/>
          </a:prstGeom>
          <a:noFill/>
          <a:ln/>
        </p:spPr>
        <p:txBody>
          <a:bodyPr wrap="square" lIns="0" tIns="0" rIns="0" bIns="0" rtlCol="0" anchor="ctr"/>
          <a:lstStyle/>
          <a:p>
            <a:pPr indent="0" marL="0">
              <a:lnSpc>
                <a:spcPct val="125000"/>
              </a:lnSpc>
              <a:buNone/>
            </a:pPr>
            <a:r>
              <a:rPr lang="en-US" sz="1300" dirty="0">
                <a:solidFill>
                  <a:srgbClr val="404040"/>
                </a:solidFill>
                <a:latin typeface="Calibri" pitchFamily="34" charset="0"/>
                <a:ea typeface="Calibri" pitchFamily="34" charset="-122"/>
                <a:cs typeface="Calibri" pitchFamily="34" charset="-120"/>
              </a:rPr>
              <a:t>Akhil Ramalingam (23Z207)  ·  Anbuchandiran K (23Z209)  ·  Neelesh Padmanabh (23Z241)</a:t>
            </a:r>
            <a:endParaRPr lang="en-US" sz="1300" dirty="0"/>
          </a:p>
          <a:p>
            <a:pPr indent="0" marL="0">
              <a:lnSpc>
                <a:spcPct val="125000"/>
              </a:lnSpc>
              <a:buNone/>
            </a:pPr>
            <a:r>
              <a:rPr lang="en-US" sz="1300" dirty="0">
                <a:solidFill>
                  <a:srgbClr val="404040"/>
                </a:solidFill>
                <a:latin typeface="Calibri" pitchFamily="34" charset="0"/>
                <a:ea typeface="Calibri" pitchFamily="34" charset="-122"/>
                <a:cs typeface="Calibri" pitchFamily="34" charset="-120"/>
              </a:rPr>
              <a:t>Saumiyaa Sri V L (23Z261)  ·  Sowndarya Elangi S (23Z269)  ·  Therdhana J P (23Z273)</a:t>
            </a:r>
            <a:endParaRPr lang="en-US" sz="1300" dirty="0"/>
          </a:p>
        </p:txBody>
      </p:sp>
      <p:sp>
        <p:nvSpPr>
          <p:cNvPr id="10" name="Text 8"/>
          <p:cNvSpPr txBox="1"/>
          <p:nvPr/>
        </p:nvSpPr>
        <p:spPr>
          <a:xfrm>
            <a:off x="640080" y="4434840"/>
            <a:ext cx="10881360" cy="36576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Guide: Ms. L. Karthika      |      Co-Guide: Dr. N. Gopika Rani</a:t>
            </a:r>
            <a:endParaRPr lang="en-US" sz="1300" dirty="0"/>
          </a:p>
        </p:txBody>
      </p:sp>
      <p:sp>
        <p:nvSpPr>
          <p:cNvPr id="11" name="Text 9"/>
          <p:cNvSpPr txBox="1"/>
          <p:nvPr/>
        </p:nvSpPr>
        <p:spPr>
          <a:xfrm>
            <a:off x="640080" y="6172200"/>
            <a:ext cx="9144000" cy="365760"/>
          </a:xfrm>
          <a:prstGeom prst="rect">
            <a:avLst/>
          </a:prstGeom>
          <a:noFill/>
          <a:ln/>
        </p:spPr>
        <p:txBody>
          <a:bodyPr wrap="square" lIns="0" tIns="0" rIns="0" bIns="0" rtlCol="0" anchor="ctr"/>
          <a:lstStyle/>
          <a:p>
            <a:pPr indent="0" marL="0">
              <a:buNone/>
            </a:pPr>
            <a:r>
              <a:rPr lang="en-US" sz="1150" dirty="0">
                <a:solidFill>
                  <a:srgbClr val="808080"/>
                </a:solidFill>
                <a:latin typeface="Calibri" pitchFamily="34" charset="0"/>
                <a:ea typeface="Calibri" pitchFamily="34" charset="-122"/>
                <a:cs typeface="Calibri" pitchFamily="34" charset="-120"/>
              </a:rPr>
              <a:t>Capstone Project -- Progress, Novelty, Literature Survey &amp; Results</a:t>
            </a:r>
            <a:endParaRPr lang="en-US" sz="1150" dirty="0"/>
          </a:p>
        </p:txBody>
      </p:sp>
      <p:sp>
        <p:nvSpPr>
          <p:cNvPr id="1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endParaRPr lang="en-US" sz="2700" dirty="0"/>
          </a:p>
        </p:txBody>
      </p:sp>
      <p:sp>
        <p:nvSpPr>
          <p:cNvPr id="13"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The Novelty: What UW-TIG Adds</a:t>
            </a:r>
            <a:endParaRPr lang="en-US" sz="2700" dirty="0"/>
          </a:p>
        </p:txBody>
      </p:sp>
      <p:sp>
        <p:nvSpPr>
          <p:cNvPr id="3" name="Text 1"/>
          <p:cNvSpPr txBox="1"/>
          <p:nvPr/>
        </p:nvSpPr>
        <p:spPr>
          <a:xfrm>
            <a:off x="548640" y="1188720"/>
            <a:ext cx="11064240" cy="868680"/>
          </a:xfrm>
          <a:prstGeom prst="rect">
            <a:avLst/>
          </a:prstGeom>
          <a:noFill/>
          <a:ln/>
        </p:spPr>
        <p:txBody>
          <a:bodyPr wrap="square" lIns="0" tIns="0" rIns="0" bIns="0" rtlCol="0" anchor="t"/>
          <a:lstStyle/>
          <a:p>
            <a:pPr indent="0" marL="0">
              <a:buNone/>
            </a:pPr>
            <a:r>
              <a:rPr lang="en-US" sz="1250" dirty="0">
                <a:solidFill>
                  <a:srgbClr val="404040"/>
                </a:solidFill>
                <a:latin typeface="Calibri" pitchFamily="34" charset="0"/>
                <a:ea typeface="Calibri" pitchFamily="34" charset="-122"/>
                <a:cs typeface="Calibri" pitchFamily="34" charset="-120"/>
              </a:rPr>
              <a:t>Existing next-best-view planners -- including the closest base paper, Isler et al. 2016 -- pick viewpoints by pure geometric information gain: no defect semantics, no memory across missions, no validated real-detector uncertainty. UW-TIG keeps that base paper's cost-normalized coverage term and adds four literature-grounded mechanisms on top, each independently measured, not just claimed:</a:t>
            </a:r>
            <a:endParaRPr lang="en-US" sz="1250" dirty="0"/>
          </a:p>
        </p:txBody>
      </p:sp>
      <p:sp>
        <p:nvSpPr>
          <p:cNvPr id="4" name="Text 2"/>
          <p:cNvSpPr txBox="1"/>
          <p:nvPr/>
        </p:nvSpPr>
        <p:spPr>
          <a:xfrm>
            <a:off x="640080" y="2194560"/>
            <a:ext cx="10881360" cy="4846320"/>
          </a:xfrm>
          <a:prstGeom prst="rect">
            <a:avLst/>
          </a:prstGeom>
          <a:noFill/>
          <a:ln/>
        </p:spPr>
        <p:txBody>
          <a:bodyPr wrap="square" lIns="0" tIns="0" rIns="0" bIns="0" rtlCol="0" anchor="t"/>
          <a:lstStyle/>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Coverage-guarantee phase -- visits every wall once before switching to full utility; fixes a recall ceiling that silently affected Isler-NBV too, not just UW-TIG's added terms</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Real detector uncertainty -- TTA-ensemble variance from an actually-trained YOLO model, not an assumed oracle</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Persistent cross-mission memory -- Postgres + Neo4j track each defect's identity and growth across separate missions, not just within one flight</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Persistent-monitoring staleness term -- revisits a spot because it hasn't been looked at in a while (Alamdari, Fata &amp; Smith 2014)</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2-step receding-horizon lookahead -- plans one step ahead instead of pure greedy (Bircher et al. 2016; Dhami et al.'s GATSBI)</a:t>
            </a:r>
            <a:endParaRPr lang="en-US" sz="1300" dirty="0"/>
          </a:p>
        </p:txBody>
      </p:sp>
      <p:sp>
        <p:nvSpPr>
          <p:cNvPr id="5" name="Shape 3"/>
          <p:cNvSpPr/>
          <p:nvPr/>
        </p:nvSpPr>
        <p:spPr>
          <a:xfrm>
            <a:off x="548640" y="5623560"/>
            <a:ext cx="11064240" cy="0"/>
          </a:xfrm>
          <a:prstGeom prst="line">
            <a:avLst/>
          </a:prstGeom>
          <a:noFill/>
          <a:ln w="12700">
            <a:solidFill>
              <a:srgbClr val="000000"/>
            </a:solidFill>
            <a:prstDash val="solid"/>
          </a:ln>
        </p:spPr>
      </p:sp>
      <p:sp>
        <p:nvSpPr>
          <p:cNvPr id="6" name="Text 4"/>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150" b="1" dirty="0">
                <a:solidFill>
                  <a:srgbClr val="000000"/>
                </a:solidFill>
                <a:latin typeface="Calibri" pitchFamily="34" charset="0"/>
                <a:ea typeface="Calibri" pitchFamily="34" charset="-122"/>
                <a:cs typeface="Calibri" pitchFamily="34" charset="-120"/>
              </a:rPr>
              <a:t>Result (full detail in later slides): UW-TIG clears 0.90 precision/recall/F1, something neither the base paper nor a naive baseline reaches, and ties the strongest of five re-implemented published planners on detection quality while flying 39% less.</a:t>
            </a:r>
            <a:endParaRPr lang="en-US" sz="115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The Closed-Loop System</a:t>
            </a:r>
            <a:endParaRPr lang="en-US" sz="2700" dirty="0"/>
          </a:p>
        </p:txBody>
      </p:sp>
      <p:sp>
        <p:nvSpPr>
          <p:cNvPr id="3" name="Text 1"/>
          <p:cNvSpPr txBox="1"/>
          <p:nvPr/>
        </p:nvSpPr>
        <p:spPr>
          <a:xfrm>
            <a:off x="548640" y="1188720"/>
            <a:ext cx="11064240" cy="36576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Detect -&gt; assess uncertainty -&gt; replan -&gt; reinspect, closing on itself every mission:</a:t>
            </a:r>
            <a:endParaRPr lang="en-US" sz="1300" dirty="0"/>
          </a:p>
        </p:txBody>
      </p:sp>
      <p:sp>
        <p:nvSpPr>
          <p:cNvPr id="4" name="Shape 2"/>
          <p:cNvSpPr/>
          <p:nvPr/>
        </p:nvSpPr>
        <p:spPr>
          <a:xfrm>
            <a:off x="548640" y="1828800"/>
            <a:ext cx="1783080" cy="1234440"/>
          </a:xfrm>
          <a:prstGeom prst="rect">
            <a:avLst/>
          </a:prstGeom>
          <a:solidFill>
            <a:srgbClr val="FFFFFF"/>
          </a:solidFill>
          <a:ln w="15875">
            <a:solidFill>
              <a:srgbClr val="000000"/>
            </a:solidFill>
            <a:prstDash val="solid"/>
          </a:ln>
        </p:spPr>
      </p:sp>
      <p:sp>
        <p:nvSpPr>
          <p:cNvPr id="5" name="Text 3"/>
          <p:cNvSpPr txBox="1"/>
          <p:nvPr/>
        </p:nvSpPr>
        <p:spPr>
          <a:xfrm>
            <a:off x="62179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Planner</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(UW-TIG)</a:t>
            </a:r>
            <a:endParaRPr lang="en-US" sz="1150" dirty="0"/>
          </a:p>
        </p:txBody>
      </p:sp>
      <p:sp>
        <p:nvSpPr>
          <p:cNvPr id="6" name="Shape 4"/>
          <p:cNvSpPr/>
          <p:nvPr/>
        </p:nvSpPr>
        <p:spPr>
          <a:xfrm>
            <a:off x="2331720" y="2446020"/>
            <a:ext cx="468630" cy="0"/>
          </a:xfrm>
          <a:prstGeom prst="line">
            <a:avLst/>
          </a:prstGeom>
          <a:noFill/>
          <a:ln w="19050">
            <a:solidFill>
              <a:srgbClr val="000000"/>
            </a:solidFill>
            <a:prstDash val="solid"/>
            <a:tailEnd type="triangle"/>
          </a:ln>
        </p:spPr>
      </p:sp>
      <p:sp>
        <p:nvSpPr>
          <p:cNvPr id="7" name="Shape 5"/>
          <p:cNvSpPr/>
          <p:nvPr/>
        </p:nvSpPr>
        <p:spPr>
          <a:xfrm>
            <a:off x="2800350" y="1828800"/>
            <a:ext cx="1783080" cy="1234440"/>
          </a:xfrm>
          <a:prstGeom prst="rect">
            <a:avLst/>
          </a:prstGeom>
          <a:solidFill>
            <a:srgbClr val="FFFFFF"/>
          </a:solidFill>
          <a:ln w="15875">
            <a:solidFill>
              <a:srgbClr val="000000"/>
            </a:solidFill>
            <a:prstDash val="solid"/>
          </a:ln>
        </p:spPr>
      </p:sp>
      <p:sp>
        <p:nvSpPr>
          <p:cNvPr id="8" name="Text 6"/>
          <p:cNvSpPr txBox="1"/>
          <p:nvPr/>
        </p:nvSpPr>
        <p:spPr>
          <a:xfrm>
            <a:off x="287350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Flight + Camera</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(PID physics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kinematic sim)</a:t>
            </a:r>
            <a:endParaRPr lang="en-US" sz="1150" dirty="0"/>
          </a:p>
        </p:txBody>
      </p:sp>
      <p:sp>
        <p:nvSpPr>
          <p:cNvPr id="9" name="Shape 7"/>
          <p:cNvSpPr/>
          <p:nvPr/>
        </p:nvSpPr>
        <p:spPr>
          <a:xfrm>
            <a:off x="4583430" y="2446020"/>
            <a:ext cx="468630" cy="0"/>
          </a:xfrm>
          <a:prstGeom prst="line">
            <a:avLst/>
          </a:prstGeom>
          <a:noFill/>
          <a:ln w="19050">
            <a:solidFill>
              <a:srgbClr val="000000"/>
            </a:solidFill>
            <a:prstDash val="solid"/>
            <a:tailEnd type="triangle"/>
          </a:ln>
        </p:spPr>
      </p:sp>
      <p:sp>
        <p:nvSpPr>
          <p:cNvPr id="10" name="Shape 8"/>
          <p:cNvSpPr/>
          <p:nvPr/>
        </p:nvSpPr>
        <p:spPr>
          <a:xfrm>
            <a:off x="5052060" y="1828800"/>
            <a:ext cx="1783080" cy="1234440"/>
          </a:xfrm>
          <a:prstGeom prst="rect">
            <a:avLst/>
          </a:prstGeom>
          <a:solidFill>
            <a:srgbClr val="FFFFFF"/>
          </a:solidFill>
          <a:ln w="15875">
            <a:solidFill>
              <a:srgbClr val="000000"/>
            </a:solidFill>
            <a:prstDash val="solid"/>
          </a:ln>
        </p:spPr>
      </p:sp>
      <p:sp>
        <p:nvSpPr>
          <p:cNvPr id="11" name="Text 9"/>
          <p:cNvSpPr txBox="1"/>
          <p:nvPr/>
        </p:nvSpPr>
        <p:spPr>
          <a:xfrm>
            <a:off x="512521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Detector</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(YOLO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uncertainty)</a:t>
            </a:r>
            <a:endParaRPr lang="en-US" sz="1150" dirty="0"/>
          </a:p>
        </p:txBody>
      </p:sp>
      <p:sp>
        <p:nvSpPr>
          <p:cNvPr id="12" name="Shape 10"/>
          <p:cNvSpPr/>
          <p:nvPr/>
        </p:nvSpPr>
        <p:spPr>
          <a:xfrm>
            <a:off x="6835140" y="2446020"/>
            <a:ext cx="468630" cy="0"/>
          </a:xfrm>
          <a:prstGeom prst="line">
            <a:avLst/>
          </a:prstGeom>
          <a:noFill/>
          <a:ln w="19050">
            <a:solidFill>
              <a:srgbClr val="000000"/>
            </a:solidFill>
            <a:prstDash val="solid"/>
            <a:tailEnd type="triangle"/>
          </a:ln>
        </p:spPr>
      </p:sp>
      <p:sp>
        <p:nvSpPr>
          <p:cNvPr id="13" name="Shape 11"/>
          <p:cNvSpPr/>
          <p:nvPr/>
        </p:nvSpPr>
        <p:spPr>
          <a:xfrm>
            <a:off x="7303770" y="1828800"/>
            <a:ext cx="1783080" cy="1234440"/>
          </a:xfrm>
          <a:prstGeom prst="rect">
            <a:avLst/>
          </a:prstGeom>
          <a:solidFill>
            <a:srgbClr val="FFFFFF"/>
          </a:solidFill>
          <a:ln w="15875">
            <a:solidFill>
              <a:srgbClr val="000000"/>
            </a:solidFill>
            <a:prstDash val="solid"/>
          </a:ln>
        </p:spPr>
      </p:sp>
      <p:sp>
        <p:nvSpPr>
          <p:cNvPr id="14" name="Text 12"/>
          <p:cNvSpPr txBox="1"/>
          <p:nvPr/>
        </p:nvSpPr>
        <p:spPr>
          <a:xfrm>
            <a:off x="737692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Geometry</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(ray-cast -&gt;</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3D position)</a:t>
            </a:r>
            <a:endParaRPr lang="en-US" sz="1150" dirty="0"/>
          </a:p>
        </p:txBody>
      </p:sp>
      <p:sp>
        <p:nvSpPr>
          <p:cNvPr id="15" name="Shape 13"/>
          <p:cNvSpPr/>
          <p:nvPr/>
        </p:nvSpPr>
        <p:spPr>
          <a:xfrm>
            <a:off x="9086850" y="2446020"/>
            <a:ext cx="468630" cy="0"/>
          </a:xfrm>
          <a:prstGeom prst="line">
            <a:avLst/>
          </a:prstGeom>
          <a:noFill/>
          <a:ln w="19050">
            <a:solidFill>
              <a:srgbClr val="000000"/>
            </a:solidFill>
            <a:prstDash val="solid"/>
            <a:tailEnd type="triangle"/>
          </a:ln>
        </p:spPr>
      </p:sp>
      <p:sp>
        <p:nvSpPr>
          <p:cNvPr id="16" name="Shape 14"/>
          <p:cNvSpPr/>
          <p:nvPr/>
        </p:nvSpPr>
        <p:spPr>
          <a:xfrm>
            <a:off x="9555480" y="1828800"/>
            <a:ext cx="1783080" cy="1234440"/>
          </a:xfrm>
          <a:prstGeom prst="rect">
            <a:avLst/>
          </a:prstGeom>
          <a:solidFill>
            <a:srgbClr val="FFFFFF"/>
          </a:solidFill>
          <a:ln w="15875">
            <a:solidFill>
              <a:srgbClr val="000000"/>
            </a:solidFill>
            <a:prstDash val="solid"/>
          </a:ln>
        </p:spPr>
      </p:sp>
      <p:sp>
        <p:nvSpPr>
          <p:cNvPr id="17" name="Text 15"/>
          <p:cNvSpPr txBox="1"/>
          <p:nvPr/>
        </p:nvSpPr>
        <p:spPr>
          <a:xfrm>
            <a:off x="962863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Memory</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(Postgres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Neo4j)</a:t>
            </a:r>
            <a:endParaRPr lang="en-US" sz="1150" dirty="0"/>
          </a:p>
        </p:txBody>
      </p:sp>
      <p:sp>
        <p:nvSpPr>
          <p:cNvPr id="18" name="Shape 16"/>
          <p:cNvSpPr/>
          <p:nvPr/>
        </p:nvSpPr>
        <p:spPr>
          <a:xfrm>
            <a:off x="10447020" y="3063240"/>
            <a:ext cx="0" cy="502920"/>
          </a:xfrm>
          <a:prstGeom prst="line">
            <a:avLst/>
          </a:prstGeom>
          <a:noFill/>
          <a:ln w="15875">
            <a:solidFill>
              <a:srgbClr val="595959"/>
            </a:solidFill>
            <a:prstDash val="solid"/>
          </a:ln>
        </p:spPr>
      </p:sp>
      <p:sp>
        <p:nvSpPr>
          <p:cNvPr id="19" name="Shape 17"/>
          <p:cNvSpPr/>
          <p:nvPr/>
        </p:nvSpPr>
        <p:spPr>
          <a:xfrm>
            <a:off x="1440180" y="3566160"/>
            <a:ext cx="9006840" cy="0"/>
          </a:xfrm>
          <a:prstGeom prst="line">
            <a:avLst/>
          </a:prstGeom>
          <a:noFill/>
          <a:ln w="15875">
            <a:solidFill>
              <a:srgbClr val="595959"/>
            </a:solidFill>
            <a:prstDash val="solid"/>
          </a:ln>
        </p:spPr>
      </p:sp>
      <p:sp>
        <p:nvSpPr>
          <p:cNvPr id="20" name="Shape 18"/>
          <p:cNvSpPr/>
          <p:nvPr/>
        </p:nvSpPr>
        <p:spPr>
          <a:xfrm>
            <a:off x="1440180" y="3063240"/>
            <a:ext cx="0" cy="502920"/>
          </a:xfrm>
          <a:prstGeom prst="line">
            <a:avLst/>
          </a:prstGeom>
          <a:noFill/>
          <a:ln w="15875">
            <a:solidFill>
              <a:srgbClr val="595959"/>
            </a:solidFill>
            <a:prstDash val="solid"/>
            <a:headEnd type="triangle"/>
          </a:ln>
        </p:spPr>
      </p:sp>
      <p:sp>
        <p:nvSpPr>
          <p:cNvPr id="21" name="Text 19"/>
          <p:cNvSpPr txBox="1"/>
          <p:nvPr/>
        </p:nvSpPr>
        <p:spPr>
          <a:xfrm>
            <a:off x="548640" y="3657600"/>
            <a:ext cx="11064240" cy="365760"/>
          </a:xfrm>
          <a:prstGeom prst="rect">
            <a:avLst/>
          </a:prstGeom>
          <a:noFill/>
          <a:ln/>
        </p:spPr>
        <p:txBody>
          <a:bodyPr wrap="square" lIns="0" tIns="0" rIns="0" bIns="0" rtlCol="0" anchor="ctr"/>
          <a:lstStyle/>
          <a:p>
            <a:pPr algn="ctr" indent="0" marL="0">
              <a:buNone/>
            </a:pPr>
            <a:r>
              <a:rPr lang="en-US" sz="1100" i="1" dirty="0">
                <a:solidFill>
                  <a:srgbClr val="595959"/>
                </a:solidFill>
                <a:latin typeface="Calibri" pitchFamily="34" charset="0"/>
                <a:ea typeface="Calibri" pitchFamily="34" charset="-122"/>
                <a:cs typeface="Calibri" pitchFamily="34" charset="-120"/>
              </a:rPr>
              <a:t>uncertainty / growth written back into the belief -- feeds the planner's very next choice, and seeds the next mission's start</a:t>
            </a:r>
            <a:endParaRPr lang="en-US" sz="1100" dirty="0"/>
          </a:p>
        </p:txBody>
      </p:sp>
      <p:sp>
        <p:nvSpPr>
          <p:cNvPr id="22" name="Text 20"/>
          <p:cNvSpPr txBox="1"/>
          <p:nvPr/>
        </p:nvSpPr>
        <p:spPr>
          <a:xfrm>
            <a:off x="548640" y="4160520"/>
            <a:ext cx="11064240" cy="365760"/>
          </a:xfrm>
          <a:prstGeom prst="rect">
            <a:avLst/>
          </a:prstGeom>
          <a:noFill/>
          <a:ln/>
        </p:spPr>
        <p:txBody>
          <a:bodyPr wrap="square" lIns="0" tIns="0" rIns="0" bIns="0" rtlCol="0" anchor="ctr"/>
          <a:lstStyle/>
          <a:p>
            <a:pPr algn="ctr" indent="0" marL="0">
              <a:buNone/>
            </a:pPr>
            <a:r>
              <a:rPr lang="en-US" sz="1100" dirty="0">
                <a:solidFill>
                  <a:srgbClr val="595959"/>
                </a:solidFill>
                <a:latin typeface="Calibri" pitchFamily="34" charset="0"/>
                <a:ea typeface="Calibri" pitchFamily="34" charset="-122"/>
                <a:cs typeface="Calibri" pitchFamily="34" charset="-120"/>
              </a:rPr>
              <a:t>9 inspectable walls/panels  ·  54 candidate viewpoints  ·  12 planners in PLANNER_REGISTRY  ·  5-seed x 4-scenario x 3-mission sweep</a:t>
            </a:r>
            <a:endParaRPr lang="en-US" sz="1100" dirty="0"/>
          </a:p>
        </p:txBody>
      </p:sp>
      <p:sp>
        <p:nvSpPr>
          <p:cNvPr id="23" name="Text 21"/>
          <p:cNvSpPr txBox="1"/>
          <p:nvPr/>
        </p:nvSpPr>
        <p:spPr>
          <a:xfrm>
            <a:off x="548640" y="4663440"/>
            <a:ext cx="11064240" cy="365760"/>
          </a:xfrm>
          <a:prstGeom prst="rect">
            <a:avLst/>
          </a:prstGeom>
          <a:noFill/>
          <a:ln/>
        </p:spPr>
        <p:txBody>
          <a:bodyPr wrap="square" lIns="0" tIns="0" rIns="0" bIns="0" rtlCol="0" anchor="ctr"/>
          <a:lstStyle/>
          <a:p>
            <a:pPr algn="ctr" indent="0" marL="0">
              <a:buNone/>
            </a:pPr>
            <a:r>
              <a:rPr lang="en-US" sz="1050" i="1" dirty="0">
                <a:solidFill>
                  <a:srgbClr val="808080"/>
                </a:solidFill>
                <a:latin typeface="Calibri" pitchFamily="34" charset="0"/>
                <a:ea typeface="Calibri" pitchFamily="34" charset="-122"/>
                <a:cs typeface="Calibri" pitchFamily="34" charset="-120"/>
              </a:rPr>
              <a:t>Open-air utility yard (sim_house.py): two freestanding equipment buildings plus one real inspection panel each on a pipe rack and lattice tower -- not an enclosed room.</a:t>
            </a:r>
            <a:endParaRPr lang="en-US" sz="1050" dirty="0"/>
          </a:p>
        </p:txBody>
      </p:sp>
      <p:sp>
        <p:nvSpPr>
          <p:cNvPr id="24"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Literature Survey: Where UW-TIG Sits (2014-2026)</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566160"/>
                <a:gridCol w="1371600"/>
                <a:gridCol w="1463040"/>
                <a:gridCol w="1280160"/>
                <a:gridCol w="1097280"/>
                <a:gridCol w="1188720"/>
                <a:gridCol w="1188720"/>
              </a:tblGrid>
              <a:tr h="3429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Approach</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Uncertainty-</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aware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Cross-mission</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Growth /</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temporal</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aware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Real</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detector</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Guarantee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Random (baseline)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Isler et al. 2016 (base paper)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Bircher et al. 2016 (RH-NBV)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Alamdari, Fata &amp; Smith 2014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O(log n) approx.</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Dhami et al., GATSBI 2023/2024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2024 only</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Taioli et al. 2023 (POMDP/MCTS)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 (1 session)</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Assumed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POMDP-optimal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Rückin et al. 2022-23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Moon et al., IA-TIGRIS, IEEE T-RO 2026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Indirect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b="1" dirty="0">
                          <a:solidFill>
                            <a:srgbClr val="000000"/>
                          </a:solidFill>
                          <a:latin typeface="Calibri" pitchFamily="34" charset="0"/>
                          <a:ea typeface="Calibri" pitchFamily="34" charset="-122"/>
                          <a:cs typeface="Calibri" pitchFamily="34" charset="-120"/>
                        </a:rPr>
                        <a:t>UW-TIG (this project)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709160"/>
            <a:ext cx="11064240" cy="274320"/>
          </a:xfrm>
          <a:prstGeom prst="rect">
            <a:avLst/>
          </a:prstGeom>
          <a:noFill/>
          <a:ln/>
        </p:spPr>
        <p:txBody>
          <a:bodyPr wrap="square" lIns="0" tIns="0" rIns="0" bIns="0" rtlCol="0" anchor="ctr"/>
          <a:lstStyle/>
          <a:p>
            <a:pPr indent="0" marL="0">
              <a:buNone/>
            </a:pPr>
            <a:r>
              <a:rPr lang="en-US" sz="930" i="1" dirty="0">
                <a:solidFill>
                  <a:srgbClr val="595959"/>
                </a:solidFill>
                <a:latin typeface="Calibri" pitchFamily="34" charset="0"/>
                <a:ea typeface="Calibri" pitchFamily="34" charset="-122"/>
                <a:cs typeface="Calibri" pitchFamily="34" charset="-120"/>
              </a:rPr>
              <a:t>† Core selection rule re-implemented and measured head-to-head in this testbed.   * Inherited (1 - 1/e) greedy guarantee on the coverage sub-objective only. No cited work combines all six columns.</a:t>
            </a:r>
            <a:endParaRPr lang="en-US" sz="930" dirty="0"/>
          </a:p>
        </p:txBody>
      </p:sp>
      <p:sp>
        <p:nvSpPr>
          <p:cNvPr id="5" name="Text 2"/>
          <p:cNvSpPr txBox="1"/>
          <p:nvPr/>
        </p:nvSpPr>
        <p:spPr>
          <a:xfrm>
            <a:off x="548640" y="5010912"/>
            <a:ext cx="11064240" cy="59436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2026: IA-TIGRIS (Moon et al., IEEE Transactions on Robotics) reuses prior planning effort while adapting to updated belief maps for information-gain path planning across hexrotor and fixed-wing UAVs -- an adaptive, incremental take on cost-aware coverage, but still generic belief-map information gain, not defect semantics or cross-mission memory (too recent to re-implement within this project's scope). 2025: Vivaldini, Pěnička &amp; Saska's survey of decision-making UAV path planning confirms this project's research gap is still open in the current literature, not a stale framing from 2016-2020.</a:t>
            </a:r>
            <a:endParaRPr lang="en-US" sz="900" dirty="0"/>
          </a:p>
        </p:txBody>
      </p:sp>
      <p:sp>
        <p:nvSpPr>
          <p:cNvPr id="6" name="Text 3"/>
          <p:cNvSpPr txBox="1"/>
          <p:nvPr/>
        </p:nvSpPr>
        <p:spPr>
          <a:xfrm>
            <a:off x="548640" y="5650992"/>
            <a:ext cx="11064240" cy="41148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Closest relatives: GATSBI combines a real detector with cost-aware planning but has no memory or uncertainty term; Rückin et al. plan with real epistemic uncertainty in a single session and surfaced Expected Calibration Error, a metric this project then ran on itself.</a:t>
            </a:r>
            <a:endParaRPr lang="en-US" sz="90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Datasets &amp; Preprocessing</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3291840"/>
                <a:gridCol w="2926080"/>
                <a:gridCol w="1828800"/>
              </a:tblGrid>
              <a:tr h="548640">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Dataset</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Size / classes</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Role here</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54864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MBDD2025</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(Zha et al.,</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Sci. Data 2025)</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14,471 UAV photos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6 structures, 5 classes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Train + held-out</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test (1,448 images)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In use, public</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CC-BY-4.0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SDNET2018</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(Maguire et al. 2018)</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Crack photos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1 class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Planned crack-class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augmentation</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Download blocked</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(bot-check)</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4" name="Text 1"/>
          <p:cNvSpPr txBox="1"/>
          <p:nvPr/>
        </p:nvSpPr>
        <p:spPr>
          <a:xfrm>
            <a:off x="548640" y="2880360"/>
            <a:ext cx="11064240" cy="320040"/>
          </a:xfrm>
          <a:prstGeom prst="rect">
            <a:avLst/>
          </a:prstGeom>
          <a:noFill/>
          <a:ln/>
        </p:spPr>
        <p:txBody>
          <a:bodyPr wrap="square" lIns="0" tIns="0" rIns="0" bIns="0" rtlCol="0" anchor="ctr"/>
          <a:lstStyle/>
          <a:p>
            <a:pPr indent="0" marL="0">
              <a:buNone/>
            </a:pPr>
            <a:r>
              <a:rPr lang="en-US" sz="1300" b="1" dirty="0">
                <a:solidFill>
                  <a:srgbClr val="000000"/>
                </a:solidFill>
                <a:latin typeface="Cambria" pitchFamily="34" charset="0"/>
                <a:ea typeface="Cambria" pitchFamily="34" charset="-122"/>
                <a:cs typeface="Cambria" pitchFamily="34" charset="-120"/>
              </a:rPr>
              <a:t>Preprocessing pipeline (every step diagnosed and verified on dev seeds before use):</a:t>
            </a:r>
            <a:endParaRPr lang="en-US" sz="1300" dirty="0"/>
          </a:p>
        </p:txBody>
      </p:sp>
      <p:sp>
        <p:nvSpPr>
          <p:cNvPr id="5" name="Text 2"/>
          <p:cNvSpPr txBox="1"/>
          <p:nvPr/>
        </p:nvSpPr>
        <p:spPr>
          <a:xfrm>
            <a:off x="640080" y="3246120"/>
            <a:ext cx="10881360" cy="4846320"/>
          </a:xfrm>
          <a:prstGeom prst="rect">
            <a:avLst/>
          </a:prstGeom>
          <a:noFill/>
          <a:ln/>
        </p:spPr>
        <p:txBody>
          <a:bodyPr wrap="square" lIns="0" tIns="0" rIns="0" bIns="0" rtlCol="0" anchor="t"/>
          <a:lstStyle/>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Aspect-correct texture crop -- wall textures cropped to the wall's true aspect ratio at 1536px long side (datagen/mbdd_textures.py), fixing a ~2.2x stretch/pixelation that was silently distorting defects</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Square-pixel camera resampling -- the 60x60° FOV camera renders into a 320x240 frame (non-square pixels); resampled to square pixels before detection (perception/ml_detector.py)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Bulge-class oversampling (~4x) -- the rarest defect class (2,018 vs. abscission's 22,702 instances) symlink-duplicated in the training set (datagen/oversample_bulge.py)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TTA-ensemble uncertainty -- 5 photometric variants (brightness/contrast/noise/blur) run through the same model; confidence's standard deviation across the ensemble reported as detection uncertainty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On-wall extent check -- a detection's ray-cast hit is rejected if it lands outside the wall's physical rectangle (+5cm margin), removing 51-75% of false positives on dev seeds (1 of 1,369 true positives)</a:t>
            </a:r>
            <a:endParaRPr lang="en-US" sz="110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Measured Evidence: What Each Addition Does</a:t>
            </a:r>
            <a:endParaRPr lang="en-US" sz="2700" dirty="0"/>
          </a:p>
        </p:txBody>
      </p:sp>
      <p:sp>
        <p:nvSpPr>
          <p:cNvPr id="3" name="Text 1"/>
          <p:cNvSpPr txBox="1"/>
          <p:nvPr/>
        </p:nvSpPr>
        <p:spPr>
          <a:xfrm>
            <a:off x="548640" y="1188720"/>
            <a:ext cx="11064240" cy="45720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Every addition from the novelty slide is independently ablated in PLANNER_REGISTRY -- measured, not just claimed. Mean over static / uncertain / multi-defect x 5 test seeds x 3 missions:</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00400"/>
                <a:gridCol w="1371600"/>
                <a:gridCol w="1188720"/>
                <a:gridCol w="1097280"/>
                <a:gridCol w="1463040"/>
                <a:gridCol w="1371600"/>
                <a:gridCol w="1371600"/>
              </a:tblGrid>
              <a:tr h="384048">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Planner</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Precision</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Recall</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F1</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Loc. err (m)</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Flight (m)</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80" b="1" dirty="0">
                          <a:solidFill>
                            <a:srgbClr val="000000"/>
                          </a:solidFill>
                          <a:latin typeface="Calibri" pitchFamily="34" charset="0"/>
                          <a:ea typeface="Calibri" pitchFamily="34" charset="-122"/>
                          <a:cs typeface="Calibri" pitchFamily="34" charset="-120"/>
                        </a:rPr>
                        <a:t>Coverage</a:t>
                      </a:r>
                      <a:endParaRPr lang="en-US" sz="108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000000"/>
                          </a:solidFill>
                          <a:latin typeface="Calibri" pitchFamily="34" charset="0"/>
                          <a:ea typeface="Calibri" pitchFamily="34" charset="-122"/>
                          <a:cs typeface="Calibri" pitchFamily="34" charset="-120"/>
                        </a:rPr>
                        <a:t>uwtig (full)</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0.949</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0.967</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0.953</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125.1</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000000"/>
                          </a:solidFill>
                          <a:latin typeface="Calibri" pitchFamily="34" charset="0"/>
                          <a:ea typeface="Calibri" pitchFamily="34" charset="-122"/>
                          <a:cs typeface="Calibri" pitchFamily="34" charset="-120"/>
                        </a:rPr>
                        <a:t>uwtig_no_uncertainty</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0.949</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0.967</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0.953</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124.6</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050" dirty="0">
                          <a:solidFill>
                            <a:srgbClr val="000000"/>
                          </a:solidFill>
                          <a:latin typeface="Calibri" pitchFamily="34" charset="0"/>
                          <a:ea typeface="Calibri" pitchFamily="34" charset="-122"/>
                          <a:cs typeface="Calibri" pitchFamily="34" charset="-120"/>
                        </a:rPr>
                        <a:t>uwtig_no_temporal</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0.949</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0.967</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0.953</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125.1</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000000"/>
                          </a:solidFill>
                          <a:latin typeface="Calibri" pitchFamily="34" charset="0"/>
                          <a:ea typeface="Calibri" pitchFamily="34" charset="-122"/>
                          <a:cs typeface="Calibri" pitchFamily="34" charset="-120"/>
                        </a:rPr>
                        <a:t>uwtig_no_staleness</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0.967</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0.956</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0.958</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050" dirty="0">
                          <a:solidFill>
                            <a:srgbClr val="000000"/>
                          </a:solidFill>
                          <a:latin typeface="Calibri" pitchFamily="34" charset="0"/>
                          <a:ea typeface="Calibri" pitchFamily="34" charset="-122"/>
                          <a:cs typeface="Calibri" pitchFamily="34" charset="-120"/>
                        </a:rPr>
                        <a:t>uwtig_no_coverage_first</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0.911</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0.556</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0.680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0.81</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13.4</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000000"/>
                          </a:solidFill>
                          <a:latin typeface="Calibri" pitchFamily="34" charset="0"/>
                          <a:ea typeface="Calibri" pitchFamily="34" charset="-122"/>
                          <a:cs typeface="Calibri" pitchFamily="34" charset="-120"/>
                        </a:rPr>
                        <a:t>uwtig_no_lookahead</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0.967</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0.956</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0.958</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85.2</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548640" y="5120640"/>
            <a:ext cx="11064240" cy="548640"/>
          </a:xfrm>
          <a:prstGeom prst="rect">
            <a:avLst/>
          </a:prstGeom>
          <a:noFill/>
          <a:ln/>
        </p:spPr>
        <p:txBody>
          <a:bodyPr wrap="square" lIns="0" tIns="0" rIns="0" bIns="0" rtlCol="0" anchor="t"/>
          <a:lstStyle/>
          <a:p>
            <a:pPr indent="0" marL="0">
              <a:buNone/>
            </a:pPr>
            <a:r>
              <a:rPr lang="en-US" sz="1100" i="1" dirty="0">
                <a:solidFill>
                  <a:srgbClr val="595959"/>
                </a:solidFill>
                <a:latin typeface="Calibri" pitchFamily="34" charset="0"/>
                <a:ea typeface="Calibri" pitchFamily="34" charset="-122"/>
                <a:cs typeface="Calibri" pitchFamily="34" charset="-120"/>
              </a:rPr>
              <a:t>Coverage phase is decisive: F1 0.953 with it, 0.680 without. Removing the staleness term or the lookahead scores slightly HIGHER and flies less -- once a single look is ~99% reliable, they add flying without adding accuracy.</a:t>
            </a:r>
            <a:endParaRPr lang="en-US" sz="1100" dirty="0"/>
          </a:p>
        </p:txBody>
      </p:sp>
      <p:sp>
        <p:nvSpPr>
          <p:cNvPr id="6" name="Text 3"/>
          <p:cNvSpPr txBox="1"/>
          <p:nvPr/>
        </p:nvSpPr>
        <p:spPr>
          <a:xfrm>
            <a:off x="548640" y="5669280"/>
            <a:ext cx="11064240" cy="685800"/>
          </a:xfrm>
          <a:prstGeom prst="rect">
            <a:avLst/>
          </a:prstGeom>
          <a:noFill/>
          <a:ln/>
        </p:spPr>
        <p:txBody>
          <a:bodyPr wrap="square" lIns="0" tIns="0" rIns="0" bIns="0" rtlCol="0" anchor="t"/>
          <a:lstStyle/>
          <a:p>
            <a:pPr indent="0" marL="0">
              <a:buNone/>
            </a:pPr>
            <a:r>
              <a:rPr lang="en-US" sz="1000" dirty="0">
                <a:solidFill>
                  <a:srgbClr val="808080"/>
                </a:solidFill>
                <a:latin typeface="Calibri" pitchFamily="34" charset="0"/>
                <a:ea typeface="Calibri" pitchFamily="34" charset="-122"/>
                <a:cs typeface="Calibri" pitchFamily="34" charset="-120"/>
              </a:rPr>
              <a:t>Every planner's own precision under the pre-fix scoring formula on these same runs was far lower (UW-TIG: 0.668) -- five measurement fixes (scoring units, ground-truth leakage, photo distortion, viewpoint distance, wrong-surface hits), not planner changes, lifted every planner above. Not every slice clears 0.90: the "uncertain" scenario's precision is 0.893.</a:t>
            </a:r>
            <a:endParaRPr lang="en-US" sz="100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Head-to-Head vs. Published Planners</a:t>
            </a:r>
            <a:endParaRPr lang="en-US" sz="2700" dirty="0"/>
          </a:p>
        </p:txBody>
      </p:sp>
      <p:sp>
        <p:nvSpPr>
          <p:cNvPr id="3" name="Text 1"/>
          <p:cNvSpPr txBox="1"/>
          <p:nvPr/>
        </p:nvSpPr>
        <p:spPr>
          <a:xfrm>
            <a:off x="548640" y="1188720"/>
            <a:ext cx="11064240" cy="41148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Each paper's core selection rule, re-implemented in this testbed -- same detector, scenes, seeds and scoring. Mean over static / uncertain / multi-defect x 5 test seeds x 3 missions.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1097280"/>
                <a:gridCol w="1005840"/>
                <a:gridCol w="914400"/>
                <a:gridCol w="1280160"/>
                <a:gridCol w="1188720"/>
                <a:gridCol w="1188720"/>
                <a:gridCol w="1280160"/>
              </a:tblGrid>
              <a:tr h="402336">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Planner</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Precision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F1 single-look</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Loc. err (m)</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Flight (m)</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Coverage</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Random baseline</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0.837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0.873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394.9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Isler et al. 2016 (base paper)</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0.890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0.556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0.671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30.7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Bircher et al. 2016 (RH-NBV)</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0.917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0.756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0.814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0.814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Dhami et al., GATSBI</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0.887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0.846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Rückin et al. 2023 (IPP)</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0.950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0.931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204.3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Alamdari et al. 2014 (latency)</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0.909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167.7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UW-TIG (this project)</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0.953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0.939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0.70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125.1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138928"/>
            <a:ext cx="10881360" cy="4846320"/>
          </a:xfrm>
          <a:prstGeom prst="rect">
            <a:avLst/>
          </a:prstGeom>
          <a:noFill/>
          <a:ln/>
        </p:spPr>
        <p:txBody>
          <a:bodyPr wrap="square" lIns="0" tIns="0" rIns="0" bIns="0" rtlCol="0" anchor="t"/>
          <a:lstStyle/>
          <a:p>
            <a:pPr marL="228600" indent="-228600">
              <a:spcAft>
                <a:spcPts val="800"/>
              </a:spcAft>
              <a:buSzPct val="100000"/>
              <a:buChar char="●"/>
            </a:pPr>
            <a:r>
              <a:rPr lang="en-US" sz="1150" b="1" dirty="0">
                <a:solidFill>
                  <a:srgbClr val="000000"/>
                </a:solidFill>
                <a:latin typeface="Calibri" pitchFamily="34" charset="0"/>
                <a:ea typeface="Calibri" pitchFamily="34" charset="-122"/>
                <a:cs typeface="Calibri" pitchFamily="34" charset="-120"/>
              </a:rPr>
              <a:t>UW-TIG and Rückin et al. 2023 (IPP) tie on F1 (0.953 vs 0.950, inside seed noise) -- but UW-TIG flies 39% less (125.1 m vs 204.3 m).</a:t>
            </a:r>
            <a:endParaRPr lang="en-US" sz="1150" dirty="0"/>
          </a:p>
          <a:p>
            <a:pPr marL="228600" indent="-228600">
              <a:spcAft>
                <a:spcPts val="800"/>
              </a:spcAft>
              <a:buSzPct val="100000"/>
              <a:buChar char="●"/>
            </a:pPr>
            <a:r>
              <a:rPr lang="en-US" sz="1150" dirty="0">
                <a:solidFill>
                  <a:srgbClr val="000000"/>
                </a:solidFill>
                <a:latin typeface="Calibri" pitchFamily="34" charset="0"/>
                <a:ea typeface="Calibri" pitchFamily="34" charset="-122"/>
                <a:cs typeface="Calibri" pitchFamily="34" charset="-120"/>
              </a:rPr>
              <a:t>Faithful to each paper's selection rule, not its full system (no RRT sampling, 3D mapping or online model retraining). IA-TIGRIS (2026, previous slide) was too recent to re-implement within this project's scope.</a:t>
            </a:r>
            <a:endParaRPr lang="en-US" sz="115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Perception &amp; Calibration: Honest Numbers</a:t>
            </a:r>
            <a:endParaRPr lang="en-US" sz="2700" dirty="0"/>
          </a:p>
        </p:txBody>
      </p:sp>
      <p:sp>
        <p:nvSpPr>
          <p:cNvPr id="3" name="Text 1"/>
          <p:cNvSpPr txBox="1"/>
          <p:nvPr/>
        </p:nvSpPr>
        <p:spPr>
          <a:xfrm>
            <a:off x="548640" y="1188720"/>
            <a:ext cx="11064240" cy="274320"/>
          </a:xfrm>
          <a:prstGeom prst="rect">
            <a:avLst/>
          </a:prstGeom>
          <a:noFill/>
          <a:ln/>
        </p:spPr>
        <p:txBody>
          <a:bodyPr wrap="square" lIns="0" tIns="0" rIns="0" bIns="0" rtlCol="0" anchor="ctr"/>
          <a:lstStyle/>
          <a:p>
            <a:pPr indent="0" marL="0">
              <a:buNone/>
            </a:pPr>
            <a:r>
              <a:rPr lang="en-US" sz="1100" dirty="0">
                <a:solidFill>
                  <a:srgbClr val="404040"/>
                </a:solidFill>
                <a:latin typeface="Calibri" pitchFamily="34" charset="0"/>
                <a:ea typeface="Calibri" pitchFamily="34" charset="-122"/>
                <a:cs typeface="Calibri" pitchFamily="34" charset="-120"/>
              </a:rPr>
              <a:t>YOLO detectors trained on MBDD2025 (14,471 real UAV defect photos), scored on the held-out 1,448-image test set.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749040"/>
                <a:gridCol w="3657600"/>
                <a:gridCol w="3657600"/>
              </a:tblGrid>
              <a:tr h="329184">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Metric</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CPU (YOLOv8n, 320px, 30ep)</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GPU (YOLOv8s, 640px, 100ep)</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mAP50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0.685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0.884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Precision (mean)</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0.874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Recall (mean)</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0.612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0.695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0.858</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548640" y="3154680"/>
            <a:ext cx="11064240" cy="868680"/>
          </a:xfrm>
          <a:prstGeom prst="rect">
            <a:avLst/>
          </a:prstGeom>
          <a:noFill/>
          <a:ln/>
        </p:spPr>
        <p:txBody>
          <a:bodyPr wrap="square" lIns="0" tIns="0" rIns="0" bIns="0" rtlCol="0" anchor="t"/>
          <a:lstStyle/>
          <a:p>
            <a:pPr indent="0" marL="0">
              <a:buNone/>
            </a:pPr>
            <a:r>
              <a:rPr lang="en-US" sz="930" dirty="0">
                <a:solidFill>
                  <a:srgbClr val="595959"/>
                </a:solidFill>
                <a:latin typeface="Calibri" pitchFamily="34" charset="0"/>
                <a:ea typeface="Calibri" pitchFamily="34" charset="-122"/>
                <a:cs typeface="Calibri" pitchFamily="34" charset="-120"/>
              </a:rPr>
              <a:t>vs. literature: Li, Shi &amp; Sun 2026 report 0.932/0.924 (private dataset, never released); Inam et al. 2023 report 0.977/0.967 (crack-only, strictly easier). Two more 2025 detectors use different architectures on related UAV defect tasks without a directly comparable number reported: TinyDef-DETR (Shen et al. 2025, transformer/DETR-based, UAV transmission-line defects) and a saliency-guided YOLOX detector (Hebbache et al. 2025, bridge defects in drone imagery). MBDD2025 (Zha et al. 2025) is this project's own dataset's formal publication, benchmarked there against 35 detection models including YOLOv5 and Faster R-CNN -- MBDD2025 remains the only fully public dataset of this group.</a:t>
            </a:r>
            <a:endParaRPr lang="en-US" sz="930" dirty="0"/>
          </a:p>
        </p:txBody>
      </p:sp>
      <p:sp>
        <p:nvSpPr>
          <p:cNvPr id="6" name="Shape 3"/>
          <p:cNvSpPr/>
          <p:nvPr/>
        </p:nvSpPr>
        <p:spPr>
          <a:xfrm>
            <a:off x="548640" y="4160520"/>
            <a:ext cx="11064240" cy="1965960"/>
          </a:xfrm>
          <a:prstGeom prst="rect">
            <a:avLst/>
          </a:prstGeom>
          <a:solidFill>
            <a:srgbClr val="FFFFFF"/>
          </a:solidFill>
          <a:ln w="12700">
            <a:solidFill>
              <a:srgbClr val="000000"/>
            </a:solidFill>
            <a:prstDash val="solid"/>
          </a:ln>
        </p:spPr>
      </p:sp>
      <p:sp>
        <p:nvSpPr>
          <p:cNvPr id="7" name="Text 4"/>
          <p:cNvSpPr txBox="1"/>
          <p:nvPr/>
        </p:nvSpPr>
        <p:spPr>
          <a:xfrm>
            <a:off x="777240" y="4297680"/>
            <a:ext cx="10607040" cy="320040"/>
          </a:xfrm>
          <a:prstGeom prst="rect">
            <a:avLst/>
          </a:prstGeom>
          <a:noFill/>
          <a:ln/>
        </p:spPr>
        <p:txBody>
          <a:bodyPr wrap="square" lIns="0" tIns="0" rIns="0" bIns="0" rtlCol="0" anchor="ctr"/>
          <a:lstStyle/>
          <a:p>
            <a:pPr indent="0" marL="0">
              <a:buNone/>
            </a:pPr>
            <a:r>
              <a:rPr lang="en-US" sz="1400" b="1" dirty="0">
                <a:solidFill>
                  <a:srgbClr val="000000"/>
                </a:solidFill>
                <a:latin typeface="Cambria" pitchFamily="34" charset="0"/>
                <a:ea typeface="Cambria" pitchFamily="34" charset="-122"/>
                <a:cs typeface="Cambria" pitchFamily="34" charset="-120"/>
              </a:rPr>
              <a:t>Honest finding: is the uncertainty signal trustworthy?</a:t>
            </a:r>
            <a:endParaRPr lang="en-US" sz="1400" dirty="0"/>
          </a:p>
        </p:txBody>
      </p:sp>
      <p:sp>
        <p:nvSpPr>
          <p:cNvPr id="8" name="Text 5"/>
          <p:cNvSpPr txBox="1"/>
          <p:nvPr/>
        </p:nvSpPr>
        <p:spPr>
          <a:xfrm>
            <a:off x="777240" y="4636008"/>
            <a:ext cx="10607040" cy="137160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ECE is high (0.29-0.33) for every planner, well above a calibrated model's near-zero. The uncertainty gap (FP uncertainty minus TP uncertainty) is NEGATIVE for every planner (-0.12 to -0.08) -- the opposite of what would validate "high uncertainty means likely wrong". Used only as a relative ranking signal within one mission, never an absolute threshold -- logged as a next step, not hidden.</a:t>
            </a:r>
            <a:endParaRPr lang="en-US" sz="1150" dirty="0"/>
          </a:p>
        </p:txBody>
      </p:sp>
      <p:sp>
        <p:nvSpPr>
          <p:cNvPr id="9"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Visual Proof: No Physical Drone Required</a:t>
            </a:r>
            <a:endParaRPr lang="en-US" sz="2700" dirty="0"/>
          </a:p>
        </p:txBody>
      </p:sp>
      <p:sp>
        <p:nvSpPr>
          <p:cNvPr id="3" name="Text 1"/>
          <p:cNvSpPr txBox="1"/>
          <p:nvPr/>
        </p:nvSpPr>
        <p:spPr>
          <a:xfrm>
            <a:off x="640080" y="1280160"/>
            <a:ext cx="10881360" cy="484632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demo_uwtig_flight.py --planner &lt;name&gt; flies any planner under real PID-controlled physics (gym-pybullet-drones) -- not kinematic teleport, not a fixed patrol</a:t>
            </a:r>
            <a:endParaRPr lang="en-US" sz="1400" dirty="0"/>
          </a:p>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Same scenario, same seed, same budget, three planners: UW-TIG, Isler-NBV, Random</a:t>
            </a:r>
            <a:endParaRPr lang="en-US" sz="1400" dirty="0"/>
          </a:p>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make_comparison_video.py splices frame-exact, same-timestep videos side by side</a:t>
            </a:r>
            <a:endParaRPr lang="en-US" sz="1400" dirty="0"/>
          </a:p>
        </p:txBody>
      </p:sp>
      <p:pic>
        <p:nvPicPr>
          <p:cNvPr id="4" name="Image 0" descr="D:\projecy_work1\drone-sim-today\report_assets\comparison_frame_bw.png">    </p:cNvPr>
          <p:cNvPicPr>
            <a:picLocks noChangeAspect="1"/>
          </p:cNvPicPr>
          <p:nvPr/>
        </p:nvPicPr>
        <p:blipFill>
          <a:blip r:embed="rId1"/>
          <a:stretch>
            <a:fillRect/>
          </a:stretch>
        </p:blipFill>
        <p:spPr>
          <a:xfrm>
            <a:off x="1508760" y="2834640"/>
            <a:ext cx="9144000" cy="2286000"/>
          </a:xfrm>
          <a:prstGeom prst="rect">
            <a:avLst/>
          </a:prstGeom>
        </p:spPr>
      </p:pic>
      <p:sp>
        <p:nvSpPr>
          <p:cNvPr id="5" name="Shape 2"/>
          <p:cNvSpPr/>
          <p:nvPr/>
        </p:nvSpPr>
        <p:spPr>
          <a:xfrm>
            <a:off x="1508760" y="2834640"/>
            <a:ext cx="9144000" cy="2286000"/>
          </a:xfrm>
          <a:prstGeom prst="rect">
            <a:avLst/>
          </a:prstGeom>
          <a:ln w="9525">
            <a:solidFill>
              <a:srgbClr val="A6A6A6"/>
            </a:solidFill>
            <a:prstDash val="solid"/>
          </a:ln>
        </p:spPr>
      </p:sp>
      <p:sp>
        <p:nvSpPr>
          <p:cNvPr id="6" name="Text 3"/>
          <p:cNvSpPr txBox="1"/>
          <p:nvPr/>
        </p:nvSpPr>
        <p:spPr>
          <a:xfrm>
            <a:off x="1051560" y="5212080"/>
            <a:ext cx="10058400" cy="731520"/>
          </a:xfrm>
          <a:prstGeom prst="rect">
            <a:avLst/>
          </a:prstGeom>
          <a:noFill/>
          <a:ln/>
        </p:spPr>
        <p:txBody>
          <a:bodyPr wrap="square" lIns="0" tIns="0" rIns="0" bIns="0" rtlCol="0" anchor="t"/>
          <a:lstStyle/>
          <a:p>
            <a:pPr algn="ctr" indent="0" marL="0">
              <a:buNone/>
            </a:pPr>
            <a:r>
              <a:rPr lang="en-US" sz="1150" i="1" dirty="0">
                <a:solidFill>
                  <a:srgbClr val="595959"/>
                </a:solidFill>
                <a:latin typeface="Calibri" pitchFamily="34" charset="0"/>
                <a:ea typeface="Calibri" pitchFamily="34" charset="-122"/>
                <a:cs typeface="Calibri" pitchFamily="34" charset="-120"/>
              </a:rPr>
              <a:t>Left to right: UW-TIG, Isler-NBV, Random -- same scenario, seed, and timestep. By late mission, UW-TIG works a feature-dense real defect target while Isler-NBV is caught mid-detection on a wall the others aren't even looking at.</a:t>
            </a:r>
            <a:endParaRPr lang="en-US" sz="115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What's Next</a:t>
            </a:r>
            <a:endParaRPr lang="en-US" sz="2700" dirty="0"/>
          </a:p>
        </p:txBody>
      </p:sp>
      <p:sp>
        <p:nvSpPr>
          <p:cNvPr id="3" name="Text 1"/>
          <p:cNvSpPr txBox="1"/>
          <p:nvPr/>
        </p:nvSpPr>
        <p:spPr>
          <a:xfrm>
            <a:off x="640080" y="1280160"/>
            <a:ext cx="10881360" cy="4846320"/>
          </a:xfrm>
          <a:prstGeom prst="rect">
            <a:avLst/>
          </a:prstGeom>
          <a:noFill/>
          <a:ln/>
        </p:spPr>
        <p:txBody>
          <a:bodyPr wrap="square" lIns="0" tIns="0" rIns="0" bIns="0" rtlCol="0" anchor="t"/>
          <a:lstStyle/>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Push the "uncertain" scenario's precision past 0.90 -- currently 0.893, via scenario-specific confirmation-rule tuning</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Close the "growing" scenario's domain gap -- recall is ~0%; mix in synthetic training data, or get a longitudinal real dataset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Close the precision gap with Rückin et al. IPP (0.959 vs 0.949) by re-weighting UW-TIG's utility terms</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Upgrade uncertainty past TTA-ensemble variance -- prototype MC-Dropout (needs dropout spliced into YOLO's detection head + a full retrain, since stock YOLOv8/v11 has no dropout layer at all) or try temperature scaling first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Re-implement the published baselines (and 2026's IA-TIGRIS) at full-system fidelity, not just the selection rule</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A yolo11m GPU retrain just finished: mAP50 0.890 vs. the current default's 0.884, but precision dipped slightly (0.869 vs. 0.874) -- a mixed, marginal result, not yet adopted as default pending a decision on whether to re-run the full sweep for it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Complete the SDNET2018 crack-class augmentation, and move toward pipeline segments and truss rigs as first-class inspectable geometry</a:t>
            </a:r>
            <a:endParaRPr lang="en-US" sz="1200" dirty="0"/>
          </a:p>
        </p:txBody>
      </p:sp>
      <p:sp>
        <p:nvSpPr>
          <p:cNvPr id="4" name="Shape 2"/>
          <p:cNvSpPr/>
          <p:nvPr/>
        </p:nvSpPr>
        <p:spPr>
          <a:xfrm>
            <a:off x="548640" y="5760720"/>
            <a:ext cx="11064240" cy="0"/>
          </a:xfrm>
          <a:prstGeom prst="line">
            <a:avLst/>
          </a:prstGeom>
          <a:noFill/>
          <a:ln w="12700">
            <a:solidFill>
              <a:srgbClr val="000000"/>
            </a:solidFill>
            <a:prstDash val="solid"/>
          </a:ln>
        </p:spPr>
      </p:sp>
      <p:sp>
        <p:nvSpPr>
          <p:cNvPr id="5" name="Text 3"/>
          <p:cNvSpPr txBox="1"/>
          <p:nvPr/>
        </p:nvSpPr>
        <p:spPr>
          <a:xfrm>
            <a:off x="548640" y="5897880"/>
            <a:ext cx="11064240" cy="548640"/>
          </a:xfrm>
          <a:prstGeom prst="rect">
            <a:avLst/>
          </a:prstGeom>
          <a:noFill/>
          <a:ln/>
        </p:spPr>
        <p:txBody>
          <a:bodyPr wrap="square" lIns="0" tIns="0" rIns="0" bIns="0" rtlCol="0" anchor="t"/>
          <a:lstStyle/>
          <a:p>
            <a:pPr indent="0" marL="0">
              <a:buNone/>
            </a:pPr>
            <a:r>
              <a:rPr lang="en-US" sz="1150" b="1" dirty="0">
                <a:solidFill>
                  <a:srgbClr val="000000"/>
                </a:solidFill>
                <a:latin typeface="Calibri" pitchFamily="34" charset="0"/>
                <a:ea typeface="Calibri" pitchFamily="34" charset="-122"/>
                <a:cs typeface="Calibri" pitchFamily="34" charset="-120"/>
              </a:rPr>
              <a:t>Bottom line: UW-TIG precision 0.949, recall 0.967, F1 0.953 on held-out test seeds -- trade-offs reported plainly throughout, including where the numbers don't flatter the project.</a:t>
            </a:r>
            <a:endParaRPr lang="en-US" sz="115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404040"/>
      </a:dk2>
      <a:lt2>
        <a:srgbClr val="D9D9D9"/>
      </a:lt2>
      <a:accent1>
        <a:srgbClr val="000000"/>
      </a:accent1>
      <a:accent2>
        <a:srgbClr val="595959"/>
      </a:accent2>
      <a:accent3>
        <a:srgbClr val="808080"/>
      </a:accent3>
      <a:accent4>
        <a:srgbClr val="A6A6A6"/>
      </a:accent4>
      <a:accent5>
        <a:srgbClr val="262626"/>
      </a:accent5>
      <a:accent6>
        <a:srgbClr val="BFBFBF"/>
      </a:accent6>
      <a:hlink>
        <a:srgbClr val="000000"/>
      </a:hlink>
      <a:folHlink>
        <a:srgbClr val="000000"/>
      </a:folHlink>
    </a:clrScheme>
    <a:fontScheme name="Monochrom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Drone Utility Inspection -- UW-TIG</dc:title>
  <dc:subject>PptxGenJS Presentation</dc:subject>
  <dc:creator>Autonomous Drone Inspection Project</dc:creator>
  <cp:lastModifiedBy>Autonomous Drone Inspection Project</cp:lastModifiedBy>
  <cp:revision>1</cp:revision>
  <dcterms:created xsi:type="dcterms:W3CDTF">2026-10-08T14:27:00Z</dcterms:created>
  <dcterms:modified xsi:type="dcterms:W3CDTF">2026-10-08T14:27:00Z</dcterms:modified>
</cp:coreProperties>
</file>