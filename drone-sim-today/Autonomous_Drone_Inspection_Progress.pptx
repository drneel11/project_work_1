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 &amp; System" id="{5074d667-4003-fd43-2119-b175c2969b4c}">
          <p14:sldIdLst>
            <p14:sldId id="258"/>
            <p14:sldId id="259"/>
            <p14:sldId id="260"/>
            <p14:sldId id="261"/>
          </p14:sldIdLst>
        </p14:section>
        <p14:section name="Literature Survey" id="{3a2052b6-871a-66e4-ffaf-73a2df46ee93}">
          <p14:sldIdLst>
            <p14:sldId id="262"/>
            <p14:sldId id="263"/>
            <p14:sldId id="264"/>
            <p14:sldId id="265"/>
            <p14:sldId id="266"/>
          </p14:sldIdLst>
        </p14:section>
        <p14:section name="The Novelty" id="{47075bcd-2c8a-5142-86dd-545b12e3603d}">
          <p14:sldIdLst>
            <p14:sldId id="267"/>
            <p14:sldId id="268"/>
            <p14:sldId id="269"/>
            <p14:sldId id="270"/>
          </p14:sldIdLst>
        </p14:section>
        <p14:section name="Results" id="{4f9f99f7-f009-87ff-e2bd-cc6251f5b144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What's Next" id="{cd3277b4-cfc3-fe70-0aa1-c30b36979449}">
          <p14:sldIdLst>
            <p14:sldId id="278"/>
            <p14:sldId id="279"/>
            <p14:sldId id="280"/>
          </p14:sldIdLst>
        </p14:section>
        <p14:section name="Default-1" id="{da2240d9-a768-2b0e-2f17-d34f328a89df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Drone Utility Inspection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317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Autonomous Drone Utility Inspection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UW-TIG: Uncertainty-Weighted Temporal Information Gain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61772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perception, persistent memory, and active reinspection -- a novel planner vs. a reimplemented base paper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-- Progress, Novelty, Literature Survey &amp; Results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772400" y="502920"/>
            <a:ext cx="3840480" cy="3840480"/>
          </a:xfrm>
          <a:prstGeom prst="ellipse">
            <a:avLst/>
          </a:prstGeom>
          <a:ln w="15875">
            <a:solidFill>
              <a:srgbClr val="8080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960120"/>
            <a:ext cx="2926080" cy="2926080"/>
          </a:xfrm>
          <a:prstGeom prst="ellipse">
            <a:avLst/>
          </a:prstGeom>
          <a:ln w="15875">
            <a:solidFill>
              <a:srgbClr val="D9D9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0" y="1417320"/>
            <a:ext cx="2011680" cy="2011680"/>
          </a:xfrm>
          <a:prstGeom prst="ellipse">
            <a:avLst/>
          </a:prstGeom>
          <a:ln w="15875">
            <a:solidFill>
              <a:srgbClr val="8080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0" y="1874520"/>
            <a:ext cx="1097280" cy="1097280"/>
          </a:xfrm>
          <a:prstGeom prst="ellipse">
            <a:avLst/>
          </a:prstGeom>
          <a:ln w="15875">
            <a:solidFill>
              <a:srgbClr val="D9D9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46920" y="24231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3990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System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8013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gap, closed-loop architecture, what's been built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3317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7157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planning papers, 3 simulation-engine papers, positioned precisely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27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Novelty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6301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literature-grounded additions to the base paper, each independently ablated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1422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5445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5-seed statistical sweep, perception benchmark, honest calibration check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074920"/>
            <a:ext cx="640080" cy="6400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5056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4589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concrete next step for each open gap, plus the broader roadmap</a:t>
            </a:r>
            <a:endParaRPr lang="en-US" sz="1250" dirty="0"/>
          </a:p>
        </p:txBody>
      </p:sp>
      <p:sp>
        <p:nvSpPr>
          <p:cNvPr id="23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&amp; System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3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Gap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next-best-view (NBV) planners -- including the closest base paper -- pick viewpoints using pure geometric information gain</a:t>
            </a:r>
            <a:endParaRPr lang="en-US" sz="155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have no concept of a “defect”: geometry-only entropy, not semantic awareness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 not persist across missions: every flight starts from a blank belief, so a growing or unresolved defect is forgotten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not uncertainty-aware in a validated way: no real trained detector confidence feeding the plan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proposal's gap, stated precisely: a planner that combines real-detector uncertainty, persistent cross-mission memory, and cost-aware active reinspection -- validated against a real trained model, not assumed ground truth</a:t>
            </a:r>
            <a:endParaRPr lang="en-US" sz="155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Closed Loop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04672" y="1307592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04672" y="1307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05840" y="1709928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463040" y="125272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chooses a viewpoint from the current belief state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04672" y="2093976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093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2496312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1463040" y="203911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flies there (kinematic sim for sweeps, real PID physics for the flagship demo) and captures a frame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" y="2880360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880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3282696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1463040" y="282549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detector reports defects with confidence + epistemic uncertainty (TTA-ensemble variance)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4672" y="3666744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666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" y="4069080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1463040" y="361188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detection is ray-cast into a real 3D world position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04672" y="4453128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4453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05840" y="4855464"/>
            <a:ext cx="0" cy="384048"/>
          </a:xfrm>
          <a:prstGeom prst="line">
            <a:avLst/>
          </a:prstGeom>
          <a:noFill/>
          <a:ln w="15875">
            <a:solidFill>
              <a:srgbClr val="A6A6A6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1463040" y="439826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against persistent memory -- matched to an existing defect or registered as new, growth computed if matched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04672" y="5239512"/>
            <a:ext cx="402336" cy="402336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5239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518464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Uncertainty/growth signal is written back into the belief -- feeding the planner's very next choice, and seeded again at the next mission's start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61356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closes on step 6: persistent memory feeds the very next decision -- not a pipeline that runs once.</a:t>
            </a:r>
            <a:endParaRPr lang="en-US" sz="1250" dirty="0"/>
          </a:p>
        </p:txBody>
      </p:sp>
      <p:sp>
        <p:nvSpPr>
          <p:cNvPr id="2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Progress: What's Been Implemented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52704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5506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3911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trained on MBDD2025 (14,471 real UAV photos, 5 defect classes). CPU and GPU checkpoints, both genuinely trained.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46448" y="152704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11040" y="165506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11040" y="203911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2D detection ray-cast from the known camera pose onto the known wall plane -&gt; real-world (x, y, z).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34528" y="152704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99120" y="165506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Memory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199120" y="203911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Postgres+pgvector (detection log, identity matching) + Neo4j (defect graph) -- cross-mission identity and growth.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395020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7822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6227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planners on one viewpoint graph: Random, the Isler-NBV base paper, 4 re-implemented literature planners (Rückin, Bircher, GATSBI, Alamdari), UW-TIG and 5 ablations.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6448" y="395020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11040" y="407822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11040" y="446227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Open-air utility yard, 9 inspectable walls/panels, 1.3 m + 2.2 m viewpoints, real PID-controlled physics flight (gym-pybullet-drones).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34528" y="3950208"/>
            <a:ext cx="3468624" cy="220370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99120" y="4078224"/>
            <a:ext cx="313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99120" y="4462272"/>
            <a:ext cx="31394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5-seed sweep x 4 scenarios x 12 planners x 3 missions. Every design choice fixed on separate dev seeds first.</a:t>
            </a:r>
            <a:endParaRPr lang="en-US" sz="1100" dirty="0"/>
          </a:p>
        </p:txBody>
      </p:sp>
      <p:sp>
        <p:nvSpPr>
          <p:cNvPr id="21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7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Base Paper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Isler, Sabzevari, Delmerico &amp; Scaramuzza -- “An Information Gain Formulation for Active Volumetric 3D Reconstruction” (ICRA 2016)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Entropy-based, cost-normalized information gain -- the closest prior method to this project's planner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Re-implemented here (not borrowed numbers): the direct baseline UW-TIG is compared against and extends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geometry-only: no defect semantics -- the literature gap this proposal identifies</a:t>
            </a:r>
            <a:endParaRPr lang="en-US" sz="1550" dirty="0"/>
          </a:p>
          <a:p>
            <a:pPr marL="228600" indent="-228600">
              <a:spcAft>
                <a:spcPts val="1400"/>
              </a:spcAft>
              <a:buSzPct val="100000"/>
              <a:buChar char="●"/>
            </a:pPr>
            <a:r>
              <a:rPr lang="en-US" sz="15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precision/recall concept at all -- it is a volumetric-reconstruction quality paper, not a detection paper</a:t>
            </a:r>
            <a:endParaRPr lang="en-US" sz="155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UW-TIG Sits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371600"/>
                <a:gridCol w="1463040"/>
                <a:gridCol w="1280160"/>
                <a:gridCol w="109728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Uncertainty-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Cross-mission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/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detector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</a:t>
                      </a:r>
                      <a:endParaRPr lang="en-US" sz="9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(baseline)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 (receding-horizon NBV)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al., GATSBI (2023 / 2024)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 only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Pred-NBV / MAP-NBV (Dhami et al.)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Indirect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Liu et al. 2022 (uncertainty-controlled CPP)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bound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Taioli et al. 2023 (POMDP / MCTS search)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(1 session)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POMDP-optimal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Alamdari, Fata &amp; Smith 2014 (persistent monitoring)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 approx.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(ICRA'22 / IROS'22 / T-RO'23) †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stated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(this project)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Partial*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Core selection rule re-implemented and measured head-to-head in this testbed (Results).   * Inherited (1 - 1/e) greedy guarantee on the coverage sub-objective only. No cited work combines all six columns.</a:t>
            </a:r>
            <a:endParaRPr lang="en-US" sz="105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Closest Relatives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66344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GATSBI (Dhami et al., 2023 / 2024)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on cost-awareness: a real defect detector combined with GTSP-routed, cost-aware planning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no persistent cross-mission memory, and no detection-uncertainty term feeding the planner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 “detection rate vs. frontier-exploration baseline” (11.5x better) -- a different unit than precision/recall, not directly comparable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66344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459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Rückin et al. (ICRA'22 / IROS'22 / T-RO'23)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377440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on uncertainty: plans with real Bayesian epistemic uncertainty (BALD, MC-Dropout) normalized by cost -- structurally the same shape as UW-TIG's utility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single-session active learning to improve a model, not persistent defect monitoring with a fixed, deployed model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●"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 a metric this project had never run on itself: Expected Calibration Error (see Results)</a:t>
            </a:r>
            <a:endParaRPr lang="en-US" sz="1250" dirty="0"/>
          </a:p>
        </p:txBody>
      </p:sp>
      <p:sp>
        <p:nvSpPr>
          <p:cNvPr id="9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Realism: Unity, Unreal &amp; Beyond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AirSim (Shah, Dey, Lovett &amp; Kapoor, FSR 2017) -- built on Unreal Engine, high-fidelity rendering + physics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Flightmare (Song, Naji, Kaufmann, Loquercio &amp; Scaramuzza, CoRL 2020) -- Unity rendering + a separate fast physics engine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GRaD-Nav (Chen et al., 2025) -- the field's current frontier: 3D-Gaussian-Splatting, past rasterized game engines entirely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solve one problem: the sim-to-real visual-fidelity gap when a model trains on rendered, synthetic imagery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977640"/>
            <a:ext cx="10881360" cy="21031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gap doesn't apply here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52628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project's detector trains and is evaluated exclusively on MBDD2025's real UAV photographs applied as wall textures -- never on synthetic defect renders. The onboard camera stays tightly framed on the wall it inspects, never seeing the yard dressing. A game-engine or 3DGS renderer would make the simulator prettier to watch; it would not change a single pixel the detector learns from. PyBullet was kept -- terminal-scriptable, and gym-pybullet-drones' own PID flight stack already gives the flagship demo real (not kinematic) physics.</a:t>
            </a:r>
            <a:endParaRPr lang="en-US" sz="120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Novelty: UW-TIG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12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Literature-Grounded Additions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6245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Coverage-guarantee phase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every wall once before switching to full utility -- fixes a recall ceiling that silently affected Isler-NBV too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1417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uwtig_no_coverage_first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2368296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68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3134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detector uncertainty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66090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TTA-ensemble variance from an actually-trained YOLO model, not an assumed ground-truth oracle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23682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uwtig_no_uncertainty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2644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 cross-mission memory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6118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 track each defect's identity and growth across separate missions, not just within one flight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0" y="331927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uwtig_no_temporal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4270248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270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2153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Staleness term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562856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Revisits a spot purely because it hasn't been looked at in a while (Alamdari, Fata &amp; Smith 2014)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778240" y="42702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uwtig_no_staleness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" y="5221224"/>
            <a:ext cx="502920" cy="5029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5221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166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2-step receding horizon lookahead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5138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one step ahead instead of pure greedy (Bircher et al. 2016; GATSBI's replanning structure)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778240" y="522122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uwtig_no_lookahead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addition is independently ablated in PLANNER_REGISTRY -- measured, not just claimed.</a:t>
            </a:r>
            <a:endParaRPr lang="en-US" sz="1250" dirty="0"/>
          </a:p>
        </p:txBody>
      </p:sp>
      <p:sp>
        <p:nvSpPr>
          <p:cNvPr id="29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Dive: The Coverage-Guarantee Phase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Isler-NBV and every UW-TIG variant stalled at a fixed fraction of the walls, identically, every seed -- the cost-normalized greedy formulation itself never finds the far building worth its travel cost. No weight retune can fix that; an explicit phase does.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0.68 → 0.95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without → with the phase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5186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186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0.56 → 0.97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9758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220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0.44 → 1.00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(fraction of walls)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92540" y="2331720"/>
            <a:ext cx="25374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92540" y="2441448"/>
            <a:ext cx="25374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→ 125 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938260" y="3182112"/>
            <a:ext cx="24460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distance (the cost)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any wall has zero visits this mission, select only among unvisited walls using Isler-NBV's own gain-minus-cost rule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every wall has been seen, hand over to the full UW-TIG utility for reinspection</a:t>
            </a:r>
            <a:endParaRPr lang="en-US" sz="13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decisive component in the final results -- the cost is more flying, stated plainly</a:t>
            </a:r>
            <a:endParaRPr lang="en-US" sz="1350" dirty="0"/>
          </a:p>
        </p:txBody>
      </p:sp>
      <p:sp>
        <p:nvSpPr>
          <p:cNvPr id="1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Ablations: What Each Addition Measurably Does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188720"/>
                <a:gridCol w="1097280"/>
                <a:gridCol w="1463040"/>
                <a:gridCol w="1371600"/>
                <a:gridCol w="13716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Loc. err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 (full)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uwtig_no_uncertainty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uwtig_no_temporal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uwtig_no_staleness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uwtig_no_coverage_first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uwtig_no_lookahead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coverage phase is decisive: F1 0.953 with it, 0.680 without. Stated plainly: removing the staleness term or the lookahead scores slightly HIGHER and flies less -- once a single survey look is ~99% reliable, they add flying without adding accuracy. Removing the uncertainty term or the temporal term changes nothing -- in this configuration they alter no decision.</a:t>
            </a:r>
            <a:endParaRPr lang="en-US" sz="115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16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Perception: Real Trained Detector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detectors trained on MBDD2025 (14,471 real UAV building-defect photos), scored on the held-out test set of 1,448 images.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checkpoint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(YOLOv8n, 320px, 30ep)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 checkpoint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(YOLOv8s, 640px, 100ep)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mAP50-95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(mean)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(mean)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0060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runs trained on a rented NVIDIA L4; bulge-class oversampling (2,018 vs. abscission's 22,702 instances) addresses class imbalance</a:t>
            </a:r>
            <a:endParaRPr lang="en-US" sz="125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held-out 1,448-image test set for every checkpoint -- never used for training or model selection</a:t>
            </a:r>
            <a:endParaRPr lang="en-US" sz="125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Numbers Got Above 0.90: Five Real Fixes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fix diagnosed on separate dev seeds (100-102), then frozen and run once on the reported test seeds (0-4). Each applies identically to every planner.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4650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Scoring units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746504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divided unique true positives by every raw false-positive box -- penalizing reinspection. Now scored per inspection report.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569464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69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53288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of MBDD2025 photos hold a second labeled defect; detecting it was counted as a false positive. Now ignored, COCO-style.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192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Photo distortion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331927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were stretched ~2.2x and pixelated on the walls. Now cropped to true wall aspect at 1536 px, square-pixel frames.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42232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0565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Viewpoint distance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4105656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Single-look recall: 0.47 at 0.8 m vs 0.99 at 2.2 m. The close-up tier was replaced by a 2.2 m survey tier.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Wrong-surface hits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4892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51-75% of false positives were on an adjacent surface, vs 1 of 1,369 true positives. Off-wall hits now rejected.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rule (chosen on dev by planner-averaged F1): a defect is reported once seen in 3 looks across missions, or once at confidence ≥ 0.45. UW-TIG: 0.76 / 0.63 / 0.65 before → 0.95 / 0.97 / 0.95 now.</a:t>
            </a:r>
            <a:endParaRPr lang="en-US" sz="1200" dirty="0"/>
          </a:p>
        </p:txBody>
      </p:sp>
      <p:sp>
        <p:nvSpPr>
          <p:cNvPr id="2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 vs. Published Planners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paper's core selection rule, re-implemented in this testbed -- same detector, scenes, seeds and scoring. Mean over static / uncertain / multi-defect x 5 test seeds x 3 missions.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  <a:gridCol w="1005840"/>
                <a:gridCol w="914400"/>
                <a:gridCol w="1280160"/>
                <a:gridCol w="118872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single-look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Loc. err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 (RH-NBV)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al., GATSBI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2023 (IPP)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 et al. 2014 (latency)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(this project)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376672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and Rückin et al. 2023 (IPP) tie on F1 (0.953 vs 0.950, inside seed noise) -- but UW-TIG flies 39% less (125.1 m vs 204.3 m).</a:t>
            </a:r>
            <a:endParaRPr lang="en-US" sz="1250" dirty="0"/>
          </a:p>
          <a:p>
            <a:pPr marL="228600" indent="-2286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to each paper's selection rule, not its full system (no RRT sampling, 3D mapping or online model retraining).</a:t>
            </a:r>
            <a:endParaRPr lang="en-US" sz="125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Finding: Is the Uncertainty Signal Trustworthy?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Rückin et al.'s evaluation methodology prompted a check this project had never run on itself, despite its name: Expected Calibration Error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is high (0.29–0.33) for every planner -- well above a calibrated model's near-zero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uncertainty gap (FP uncertainty minus TP uncertainty) is NEGATIVE for every planner (-0.12 to -0.08)</a:t>
            </a:r>
            <a:endParaRPr lang="en-US" sz="1450" dirty="0"/>
          </a:p>
          <a:p>
            <a:pPr marL="228600" indent="-228600"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opposite of what would validate “high uncertainty means likely wrong” -- and it still holds after the &gt;0.90 fixes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40080" y="3749040"/>
            <a:ext cx="10881360" cy="233172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plainly, not hidden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10332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doesn't invalidate the planner's measured precision/recall results -- uncertainty is used only as a relative ranking signal within one mission, never thresholded as an absolute probability. But it does mean this project cannot currently back the claim that high TTA-uncertainty means a detection is probably wrong. A real fix: swap in an uncertainty estimate validated for calibration (e.g. MC-Dropout, or post-hoc temperature scaling) -- logged as future work, not papered over.</a:t>
            </a:r>
            <a:endParaRPr lang="en-US" sz="125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Comparison: This Detector vs. the Literature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  <a:gridCol w="3017520"/>
                <a:gridCol w="914400"/>
                <a:gridCol w="914400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 (YOLOv8s, 640px)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5-class UAV defect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MBDD2025 -- public, 14,471 photos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Li, Shi &amp; Sun 2026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Utility-tunnel defect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Private, 5,000 images -- never released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Inam et al. 2023 (best variant)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crack only (1 class)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field data + SDNET2018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397764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project's numbers are lower -- stated plainly, not explained away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comparison cuts both ways: Inam et al.'s number is crack-only (strictly easier, no cross-class confusion); Li et al.'s dataset is private and unverifiable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MBDD2025 is the only fully public, independently reproducible dataset of the three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controlled claim this project rests on is the same-testbed head-to-head comparison, not a claim of leading the wider literature on raw detector numbers</a:t>
            </a:r>
            <a:endParaRPr lang="en-US" sz="13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Proof: No Physical Drone Required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demo_uwtig_flight.py --planner &lt;name&gt; flies any planner under real PID-controlled physics (gym-pybullet-drones) -- not kinematic teleport, not a fixed patrol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scenario, same seed, same budget, three planners: UW-TIG, Isler-NBV, Random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make_comparison_video.py splices frame-exact, same-timestep videos side by side</a:t>
            </a:r>
            <a:endParaRPr lang="en-US" sz="1400" dirty="0"/>
          </a:p>
        </p:txBody>
      </p:sp>
      <p:pic>
        <p:nvPicPr>
          <p:cNvPr id="4" name="Image 0" descr="D:\projecy_work1\drone-sim-today\report_assets\comparison_frame_b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2926080"/>
            <a:ext cx="9144000" cy="2286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508760" y="2926080"/>
            <a:ext cx="9144000" cy="2286000"/>
          </a:xfrm>
          <a:prstGeom prst="rect">
            <a:avLst/>
          </a:prstGeom>
          <a:ln w="9525">
            <a:solidFill>
              <a:srgbClr val="A6A6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52852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to right: UW-TIG, Isler-NBV, Random -- same scenario, seed, and timestep. Each already at a different wall. By late mission, UW-TIG works a feature-dense real defect target while Isler-NBV is caught mid-detection on a wall the others aren't even looking at.</a:t>
            </a:r>
            <a:endParaRPr lang="en-US" sz="115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23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the Gaps the Numbers Point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“uncertain” scenario's precision past 0.90</a:t>
            </a:r>
            <a:endParaRPr lang="en-US" sz="1300" dirty="0"/>
          </a:p>
          <a:p>
            <a:pPr lvl="1" marL="457200" indent="-2286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0.893 -- the one slice below the averaged target; next: scenario-specific confirmation-rule tuning</a:t>
            </a:r>
            <a:endParaRPr lang="en-US" sz="13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“growing” scenario's domain gap</a:t>
            </a:r>
            <a:endParaRPr lang="en-US" sz="1300" dirty="0"/>
          </a:p>
          <a:p>
            <a:pPr lvl="1" marL="457200" indent="-2286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is ~0% -- the real-photo-trained detector doesn't recognize the synthetic corrosion texture; next: mix in synthetic training data, or acquire a longitudinal real dataset</a:t>
            </a:r>
            <a:endParaRPr lang="en-US" sz="13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UW-TIG's flight-cost edge is the right thing to lead on</a:t>
            </a:r>
            <a:endParaRPr lang="en-US" sz="1300" dirty="0"/>
          </a:p>
          <a:p>
            <a:pPr lvl="1" marL="457200" indent="-2286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Rückin et al. IPP ties F1 (0.950 vs 0.953) and beats precision (0.959 vs 0.949); next: explore re-weighting the utility terms to close that gap too</a:t>
            </a:r>
            <a:endParaRPr lang="en-US" sz="13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the uncertainty estimate past TTA-ensemble variance</a:t>
            </a:r>
            <a:endParaRPr lang="en-US" sz="1300" dirty="0"/>
          </a:p>
          <a:p>
            <a:pPr lvl="1" marL="457200" indent="-2286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0.29-0.33 and a negative uncertainty gap; true MC-Dropout needs dropout layers spliced into YOLO's detection head (not native to the architecture) plus a full retrain -- next: prototype that, or try temperature scaling as a lighter first step</a:t>
            </a:r>
            <a:endParaRPr lang="en-US" sz="1300" dirty="0"/>
          </a:p>
          <a:p>
            <a:pPr marL="228600" indent="-228600">
              <a:spcAft>
                <a:spcPts val="700"/>
              </a:spcAft>
              <a:buSzPct val="100000"/>
              <a:buChar char="●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whether staleness and lookahead stay on by default</a:t>
            </a:r>
            <a:endParaRPr lang="en-US" sz="1300" dirty="0"/>
          </a:p>
          <a:p>
            <a:pPr lvl="1" marL="457200" indent="-228600"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ablations now match or slightly beat the full planner; next: more seeds to separate the effect from noise</a:t>
            </a:r>
            <a:endParaRPr lang="en-US" sz="13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Beyond This Capstone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 the literature baselines at full-system fidelity -- RRT sampling, 3D mapping, online retraining, where each paper uses them, not just the selection rule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yolo11m GPU retrain (running now) beats the current detector on the held-out test set, make it the default and re-run the full sweep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SDNET2018 crack-class augmentation -- converter built, download still pending (gated behind Cloudflare/login on every mirror checked)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toward pipeline segments and truss rigs as first-class inspectable geometry</a:t>
            </a:r>
            <a:endParaRPr lang="en-US" sz="1400" dirty="0"/>
          </a:p>
          <a:p>
            <a:pPr marL="228600" indent="-228600">
              <a:spcAft>
                <a:spcPts val="1300"/>
              </a:spcAft>
              <a:buSzPct val="100000"/>
              <a:buChar char="●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PyBullet's own rendering ceiling further, or revisit Unity/Unreal if the project's scope grows beyond this testbed</a:t>
            </a:r>
            <a:endParaRPr lang="en-US" sz="1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11247120" y="65105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2286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dirty="0">
                <a:solidFill>
                  <a:srgbClr val="A6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7889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Closed Loop, Validated Honestly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4348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UW-TIG: precision 0.949, recall 0.967, F1 0.953 on held-out test seeds --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head-to-head against re-implementations of five published planners in one testbed.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reported plainly, including where the numbers don't flatter the project.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0"/>
            <a:ext cx="9144000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26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404040"/>
      </a:dk2>
      <a:lt2>
        <a:srgbClr val="D9D9D9"/>
      </a:lt2>
      <a:accent1>
        <a:srgbClr val="000000"/>
      </a:accent1>
      <a:accent2>
        <a:srgbClr val="595959"/>
      </a:accent2>
      <a:accent3>
        <a:srgbClr val="808080"/>
      </a:accent3>
      <a:accent4>
        <a:srgbClr val="A6A6A6"/>
      </a:accent4>
      <a:accent5>
        <a:srgbClr val="262626"/>
      </a:accent5>
      <a:accent6>
        <a:srgbClr val="BFBFBF"/>
      </a:accent6>
      <a:hlink>
        <a:srgbClr val="000000"/>
      </a:hlink>
      <a:folHlink>
        <a:srgbClr val="000000"/>
      </a:folHlink>
    </a:clrScheme>
    <a:fontScheme name="Monochro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Drone Utility Inspection -- UW-TIG</dc:title>
  <dc:subject>PptxGenJS Presentation</dc:subject>
  <dc:creator>Autonomous Drone Inspection Project</dc:creator>
  <cp:lastModifiedBy>Autonomous Drone Inspection Project</cp:lastModifiedBy>
  <cp:revision>1</cp:revision>
  <dcterms:created xsi:type="dcterms:W3CDTF">2026-10-06T01:44:41Z</dcterms:created>
  <dcterms:modified xsi:type="dcterms:W3CDTF">2026-10-06T01:44:41Z</dcterms:modified>
</cp:coreProperties>
</file>